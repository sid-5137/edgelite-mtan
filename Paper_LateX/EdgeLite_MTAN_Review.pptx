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4.xml" ContentType="application/vnd.openxmlformats-officedocument.presentationml.notesSlide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3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 /><Relationship Id="rId24" Type="http://schemas.openxmlformats.org/officeDocument/2006/relationships/tableStyles" Target="tableStyles.xml" /><Relationship Id="rId25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IoU (%)</c:v>
                </c:pt>
              </c:strCache>
            </c:strRef>
          </c:tx>
          <c:spPr bwMode="auto">
            <a:prstGeom prst="rect">
              <a:avLst/>
            </a:prstGeom>
            <a:solidFill>
              <a:srgbClr val="00A896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Sheet1!$A$2:$A$20</c:f>
              <c:multiLvlStrCache>
                <c:ptCount val="19"/>
                <c:lvl>
                  <c:pt idx="0">
                    <c:v>road</c:v>
                  </c:pt>
                  <c:pt idx="1">
                    <c:v>sidewalk</c:v>
                  </c:pt>
                  <c:pt idx="2">
                    <c:v>building</c:v>
                  </c:pt>
                  <c:pt idx="3">
                    <c:v>wall</c:v>
                  </c:pt>
                  <c:pt idx="4">
                    <c:v>fence</c:v>
                  </c:pt>
                  <c:pt idx="5">
                    <c:v>pole</c:v>
                  </c:pt>
                  <c:pt idx="6">
                    <c:v>t-light</c:v>
                  </c:pt>
                  <c:pt idx="7">
                    <c:v>t-sign</c:v>
                  </c:pt>
                  <c:pt idx="8">
                    <c:v>veg</c:v>
                  </c:pt>
                  <c:pt idx="9">
                    <c:v>terrain</c:v>
                  </c:pt>
                  <c:pt idx="10">
                    <c:v>sky</c:v>
                  </c:pt>
                  <c:pt idx="11">
                    <c:v>person</c:v>
                  </c:pt>
                  <c:pt idx="12">
                    <c:v>rider</c:v>
                  </c:pt>
                  <c:pt idx="13">
                    <c:v>car</c:v>
                  </c:pt>
                  <c:pt idx="14">
                    <c:v>truck</c:v>
                  </c:pt>
                  <c:pt idx="15">
                    <c:v>bus</c:v>
                  </c:pt>
                  <c:pt idx="16">
                    <c:v>train</c:v>
                  </c:pt>
                  <c:pt idx="17">
                    <c:v>m-cycle</c:v>
                  </c:pt>
                  <c:pt idx="18">
                    <c:v>bicycle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97.2</c:v>
                </c:pt>
                <c:pt idx="1">
                  <c:v>79.1</c:v>
                </c:pt>
                <c:pt idx="2">
                  <c:v>90.1</c:v>
                </c:pt>
                <c:pt idx="3">
                  <c:v>49</c:v>
                </c:pt>
                <c:pt idx="4">
                  <c:v>50.4</c:v>
                </c:pt>
                <c:pt idx="5">
                  <c:v>52.5</c:v>
                </c:pt>
                <c:pt idx="6">
                  <c:v>58.9</c:v>
                </c:pt>
                <c:pt idx="7">
                  <c:v>70.5</c:v>
                </c:pt>
                <c:pt idx="8">
                  <c:v>90.6</c:v>
                </c:pt>
                <c:pt idx="9">
                  <c:v>58.8</c:v>
                </c:pt>
                <c:pt idx="10">
                  <c:v>94</c:v>
                </c:pt>
                <c:pt idx="11">
                  <c:v>74.2</c:v>
                </c:pt>
                <c:pt idx="12">
                  <c:v>53.6</c:v>
                </c:pt>
                <c:pt idx="13">
                  <c:v>92.6</c:v>
                </c:pt>
                <c:pt idx="14">
                  <c:v>70.7</c:v>
                </c:pt>
                <c:pt idx="15">
                  <c:v>76.4</c:v>
                </c:pt>
                <c:pt idx="16">
                  <c:v>53.1</c:v>
                </c:pt>
                <c:pt idx="17">
                  <c:v>50.4</c:v>
                </c:pt>
                <c:pt idx="18">
                  <c:v>69.3</c:v>
                </c:pt>
              </c:numCache>
            </c:numRef>
          </c:val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0"/>
          <c:txPr>
            <a:bodyPr/>
            <a:lstStyle/>
            <a:p>
              <a:pPr>
                <a:defRPr sz="1200" b="0" i="0" u="none" strike="noStrike">
                  <a:solidFill>
                    <a:srgbClr val="000000"/>
                  </a:solidFill>
                  <a:latin typeface="Arial"/>
                </a:defRPr>
              </a:pPr>
              <a:endParaRPr/>
            </a:p>
          </c:txPr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.000000"/>
          <c:min val="0.000000"/>
        </c:scaling>
        <c:delete val="0"/>
        <c:axPos val="l"/>
        <c:majorGridlines>
          <c:spPr bwMode="auto">
            <a:prstGeom prst="rect">
              <a:avLst/>
            </a:prstGeom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274320" y="914400"/>
      <a:ext cx="8595360" cy="3200400"/>
    </a:xfrm>
    <a:prstGeom prst="rect">
      <a:avLst/>
    </a:prstGeom>
    <a:solidFill>
      <a:srgbClr val="FFFFFF"/>
    </a:solidFill>
    <a:ln>
      <a:noFill/>
    </a:ln>
    <a:effectLst/>
  </c:spPr>
  <c:externalData r:id="rId1">
    <c:autoUpdate val="1"/>
  </c:externalData>
</c:chartSpace>
</file>

<file path=ppt/embeddings/_rels/Microsoft_Excel_Worksheet1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774229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7885445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62737580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864343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690886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486568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370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3579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9230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4502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98320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80107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0325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3893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07849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3896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8351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627728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1621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560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6607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CAAE94-B604-3663-E32C-27954E4CFB1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97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042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19835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25BAD8-44AE-D32A-9410-6FDFDF772C1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394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867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8627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2394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7798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80764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1938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4774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56683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165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5754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08474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7580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6616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5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6032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79764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66706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2801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1672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05410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9142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3839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8853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4806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81721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2237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920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3349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31895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430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94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479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6866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957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73346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593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2195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4998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chart" Target="../charts/char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E276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3658573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91209878" name="Text 1"/>
          <p:cNvSpPr/>
          <p:nvPr/>
        </p:nvSpPr>
        <p:spPr bwMode="auto"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EdgeLite-MTAN</a:t>
            </a:r>
            <a:endParaRPr lang="en-US" sz="4000"/>
          </a:p>
        </p:txBody>
      </p:sp>
      <p:sp>
        <p:nvSpPr>
          <p:cNvPr id="1345623602" name="Text 2"/>
          <p:cNvSpPr/>
          <p:nvPr/>
        </p:nvSpPr>
        <p:spPr bwMode="auto"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800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A Lightweight Multi-Task Attention Network for</a:t>
            </a:r>
            <a:endParaRPr lang="en-US" sz="1800"/>
          </a:p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800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Real-Time Outdoor Navigation Using Monocular RGB Images</a:t>
            </a:r>
            <a:endParaRPr lang="en-US" sz="1800"/>
          </a:p>
        </p:txBody>
      </p:sp>
      <p:sp>
        <p:nvSpPr>
          <p:cNvPr id="270462898" name="Shape 3"/>
          <p:cNvSpPr/>
          <p:nvPr/>
        </p:nvSpPr>
        <p:spPr bwMode="auto">
          <a:xfrm>
            <a:off x="731520" y="2926080"/>
            <a:ext cx="2286000" cy="274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45700925" name="Text 4"/>
          <p:cNvSpPr/>
          <p:nvPr/>
        </p:nvSpPr>
        <p:spPr bwMode="auto">
          <a:xfrm>
            <a:off x="731520" y="32004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  <a:defRPr/>
            </a:pPr>
            <a:r>
              <a:rPr lang="en-US" sz="1400" b="1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Dr. S. A. Sajidha</a:t>
            </a:r>
            <a:endParaRPr lang="en-US" sz="1400"/>
          </a:p>
          <a:p>
            <a:pPr marL="0" indent="0" algn="l">
              <a:lnSpc>
                <a:spcPct val="140000"/>
              </a:lnSpc>
              <a:buNone/>
              <a:defRPr/>
            </a:pPr>
            <a:r>
              <a:rPr lang="en-US" sz="1400" b="1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Siddhartha Mallavolu</a:t>
            </a:r>
            <a:endParaRPr lang="en-US" sz="1400"/>
          </a:p>
          <a:p>
            <a:pPr marL="0" indent="0" algn="l">
              <a:lnSpc>
                <a:spcPct val="140000"/>
              </a:lnSpc>
              <a:buNone/>
              <a:defRPr/>
            </a:pPr>
            <a:r>
              <a:rPr lang="en-US" sz="1400" b="1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Puvvada V. N. S. N. Kedhar</a:t>
            </a:r>
            <a:endParaRPr lang="en-US" sz="1400"/>
          </a:p>
        </p:txBody>
      </p:sp>
      <p:sp>
        <p:nvSpPr>
          <p:cNvPr id="1862428351" name="Text 5"/>
          <p:cNvSpPr/>
          <p:nvPr/>
        </p:nvSpPr>
        <p:spPr bwMode="auto">
          <a:xfrm>
            <a:off x="73152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Vellore Institute of Technology, Chennai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334316" name="Shape 0"/>
          <p:cNvSpPr/>
          <p:nvPr/>
        </p:nvSpPr>
        <p:spPr bwMode="auto"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23850090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2122323173" name="Text 1"/>
          <p:cNvSpPr/>
          <p:nvPr/>
        </p:nvSpPr>
        <p:spPr bwMode="auto">
          <a:xfrm>
            <a:off x="100584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Introduction &amp; Objectives</a:t>
            </a:r>
            <a:endParaRPr lang="en-US" sz="2400"/>
          </a:p>
        </p:txBody>
      </p:sp>
      <p:sp>
        <p:nvSpPr>
          <p:cNvPr id="2107426446" name="Shape 2"/>
          <p:cNvSpPr/>
          <p:nvPr/>
        </p:nvSpPr>
        <p:spPr bwMode="auto">
          <a:xfrm>
            <a:off x="457200" y="100584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469231881" name="Text 3"/>
          <p:cNvSpPr/>
          <p:nvPr/>
        </p:nvSpPr>
        <p:spPr bwMode="auto">
          <a:xfrm>
            <a:off x="64008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E2761"/>
                </a:solidFill>
                <a:latin typeface="Georgia"/>
                <a:ea typeface="Georgia"/>
                <a:cs typeface="Georgia"/>
              </a:rPr>
              <a:t>The Problem</a:t>
            </a:r>
            <a:endParaRPr lang="en-US" sz="1600"/>
          </a:p>
        </p:txBody>
      </p:sp>
      <p:sp>
        <p:nvSpPr>
          <p:cNvPr id="2127875818" name="Text 4"/>
          <p:cNvSpPr/>
          <p:nvPr/>
        </p:nvSpPr>
        <p:spPr bwMode="auto">
          <a:xfrm>
            <a:off x="640080" y="14173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Outdoor navigation needs real-time multi-task perception</a:t>
            </a:r>
            <a:endParaRPr lang="en-US" sz="110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LiDAR/stereo/RGB-D sensors are expensive and power-hungry</a:t>
            </a:r>
            <a:endParaRPr lang="en-US" sz="110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Monocular RGB is cheap but lacks geometric info</a:t>
            </a:r>
            <a:endParaRPr lang="en-US" sz="110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Existing MTL methods use heavy backbones (32M-300M+)</a:t>
            </a:r>
            <a:endParaRPr lang="en-US" sz="1100"/>
          </a:p>
        </p:txBody>
      </p:sp>
      <p:sp>
        <p:nvSpPr>
          <p:cNvPr id="828219014" name="Shape 5"/>
          <p:cNvSpPr/>
          <p:nvPr/>
        </p:nvSpPr>
        <p:spPr bwMode="auto">
          <a:xfrm>
            <a:off x="4754880" y="100584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954065063" name="Text 6"/>
          <p:cNvSpPr/>
          <p:nvPr/>
        </p:nvSpPr>
        <p:spPr bwMode="auto">
          <a:xfrm>
            <a:off x="493776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A896"/>
                </a:solidFill>
                <a:latin typeface="Georgia"/>
                <a:ea typeface="Georgia"/>
                <a:cs typeface="Georgia"/>
              </a:rPr>
              <a:t>Our Objectives</a:t>
            </a:r>
            <a:endParaRPr lang="en-US" sz="1600"/>
          </a:p>
        </p:txBody>
      </p:sp>
      <p:sp>
        <p:nvSpPr>
          <p:cNvPr id="123462872" name="Text 7"/>
          <p:cNvSpPr/>
          <p:nvPr/>
        </p:nvSpPr>
        <p:spPr bwMode="auto">
          <a:xfrm>
            <a:off x="4937760" y="14173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Lightweight 3-task MTL (depth + seg + normals)</a:t>
            </a:r>
            <a:endParaRPr lang="en-US" sz="110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Full 19-class Cityscapes at 512x1024 resolution</a:t>
            </a:r>
            <a:endParaRPr lang="en-US" sz="110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Real-time inference (&gt;30 FPS) on consumer GPU</a:t>
            </a:r>
            <a:endParaRPr lang="en-US" sz="110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81% parameter reduction vs original MTAN</a:t>
            </a:r>
            <a:endParaRPr lang="en-US" sz="1100"/>
          </a:p>
        </p:txBody>
      </p:sp>
      <p:sp>
        <p:nvSpPr>
          <p:cNvPr id="1617037744" name="Shape 8"/>
          <p:cNvSpPr/>
          <p:nvPr/>
        </p:nvSpPr>
        <p:spPr bwMode="auto">
          <a:xfrm>
            <a:off x="457200" y="3291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049788976" name="Text 9"/>
          <p:cNvSpPr/>
          <p:nvPr/>
        </p:nvSpPr>
        <p:spPr bwMode="auto">
          <a:xfrm>
            <a:off x="457200" y="3383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00A896"/>
                </a:solidFill>
                <a:latin typeface="Georgia"/>
                <a:ea typeface="Georgia"/>
                <a:cs typeface="Georgia"/>
              </a:rPr>
              <a:t>6.2M</a:t>
            </a:r>
            <a:endParaRPr lang="en-US" sz="3200"/>
          </a:p>
        </p:txBody>
      </p:sp>
      <p:sp>
        <p:nvSpPr>
          <p:cNvPr id="1402255367" name="Text 10"/>
          <p:cNvSpPr/>
          <p:nvPr/>
        </p:nvSpPr>
        <p:spPr bwMode="auto">
          <a:xfrm>
            <a:off x="45720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Parameters</a:t>
            </a:r>
            <a:endParaRPr lang="en-US" sz="1200"/>
          </a:p>
        </p:txBody>
      </p:sp>
      <p:sp>
        <p:nvSpPr>
          <p:cNvPr id="1901155197" name="Shape 11"/>
          <p:cNvSpPr/>
          <p:nvPr/>
        </p:nvSpPr>
        <p:spPr bwMode="auto">
          <a:xfrm>
            <a:off x="2651760" y="3291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576809421" name="Text 12"/>
          <p:cNvSpPr/>
          <p:nvPr/>
        </p:nvSpPr>
        <p:spPr bwMode="auto">
          <a:xfrm>
            <a:off x="2651760" y="3383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16A34A"/>
                </a:solidFill>
                <a:latin typeface="Georgia"/>
                <a:ea typeface="Georgia"/>
                <a:cs typeface="Georgia"/>
              </a:rPr>
              <a:t>70.1%</a:t>
            </a:r>
            <a:endParaRPr lang="en-US" sz="3200"/>
          </a:p>
        </p:txBody>
      </p:sp>
      <p:sp>
        <p:nvSpPr>
          <p:cNvPr id="1295348779" name="Text 13"/>
          <p:cNvSpPr/>
          <p:nvPr/>
        </p:nvSpPr>
        <p:spPr bwMode="auto">
          <a:xfrm>
            <a:off x="265176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mIoU</a:t>
            </a:r>
            <a:endParaRPr lang="en-US" sz="1200"/>
          </a:p>
        </p:txBody>
      </p:sp>
      <p:sp>
        <p:nvSpPr>
          <p:cNvPr id="1745602318" name="Shape 14"/>
          <p:cNvSpPr/>
          <p:nvPr/>
        </p:nvSpPr>
        <p:spPr bwMode="auto">
          <a:xfrm>
            <a:off x="4846320" y="3291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733899709" name="Text 15"/>
          <p:cNvSpPr/>
          <p:nvPr/>
        </p:nvSpPr>
        <p:spPr bwMode="auto">
          <a:xfrm>
            <a:off x="4846320" y="3383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065A82"/>
                </a:solidFill>
                <a:latin typeface="Georgia"/>
                <a:ea typeface="Georgia"/>
                <a:cs typeface="Georgia"/>
              </a:rPr>
              <a:t>84.9%</a:t>
            </a:r>
            <a:endParaRPr lang="en-US" sz="3200"/>
          </a:p>
        </p:txBody>
      </p:sp>
      <p:sp>
        <p:nvSpPr>
          <p:cNvPr id="1611473287" name="Text 16"/>
          <p:cNvSpPr/>
          <p:nvPr/>
        </p:nvSpPr>
        <p:spPr bwMode="auto">
          <a:xfrm>
            <a:off x="484632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Depth δ₁</a:t>
            </a:r>
            <a:endParaRPr lang="en-US" sz="1200"/>
          </a:p>
        </p:txBody>
      </p:sp>
      <p:sp>
        <p:nvSpPr>
          <p:cNvPr id="368399217" name="Shape 17"/>
          <p:cNvSpPr/>
          <p:nvPr/>
        </p:nvSpPr>
        <p:spPr bwMode="auto">
          <a:xfrm>
            <a:off x="7040880" y="3291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412546184" name="Text 18"/>
          <p:cNvSpPr/>
          <p:nvPr/>
        </p:nvSpPr>
        <p:spPr bwMode="auto">
          <a:xfrm>
            <a:off x="7040880" y="3383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D97706"/>
                </a:solidFill>
                <a:latin typeface="Georgia"/>
                <a:ea typeface="Georgia"/>
                <a:cs typeface="Georgia"/>
              </a:rPr>
              <a:t>39.6</a:t>
            </a:r>
            <a:endParaRPr lang="en-US" sz="3200"/>
          </a:p>
        </p:txBody>
      </p:sp>
      <p:sp>
        <p:nvSpPr>
          <p:cNvPr id="1653332687" name="Text 19"/>
          <p:cNvSpPr/>
          <p:nvPr/>
        </p:nvSpPr>
        <p:spPr bwMode="auto">
          <a:xfrm>
            <a:off x="704088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FPS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813395" name="Shape 0"/>
          <p:cNvSpPr/>
          <p:nvPr/>
        </p:nvSpPr>
        <p:spPr bwMode="auto"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3424114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187943978" name="Text 1"/>
          <p:cNvSpPr/>
          <p:nvPr/>
        </p:nvSpPr>
        <p:spPr bwMode="auto">
          <a:xfrm>
            <a:off x="100584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System Design: Architecture Overview</a:t>
            </a:r>
            <a:endParaRPr lang="en-US" sz="2400"/>
          </a:p>
        </p:txBody>
      </p:sp>
      <p:sp>
        <p:nvSpPr>
          <p:cNvPr id="552078186" name="Shape 2"/>
          <p:cNvSpPr/>
          <p:nvPr/>
        </p:nvSpPr>
        <p:spPr bwMode="auto">
          <a:xfrm>
            <a:off x="457200" y="100584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588477643" name="Shape 3"/>
          <p:cNvSpPr/>
          <p:nvPr/>
        </p:nvSpPr>
        <p:spPr bwMode="auto">
          <a:xfrm>
            <a:off x="457200" y="1005840"/>
            <a:ext cx="260604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49309764" name="Text 4"/>
          <p:cNvSpPr/>
          <p:nvPr/>
        </p:nvSpPr>
        <p:spPr bwMode="auto">
          <a:xfrm>
            <a:off x="457200" y="1005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Module 1</a:t>
            </a:r>
            <a:endParaRPr lang="en-US" sz="1400"/>
          </a:p>
        </p:txBody>
      </p:sp>
      <p:sp>
        <p:nvSpPr>
          <p:cNvPr id="1734385207" name="Text 5"/>
          <p:cNvSpPr/>
          <p:nvPr/>
        </p:nvSpPr>
        <p:spPr bwMode="auto">
          <a:xfrm>
            <a:off x="594360" y="16002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MobileNetV3-Large</a:t>
            </a:r>
            <a:endParaRPr lang="en-US" sz="1400"/>
          </a:p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Shared Encoder</a:t>
            </a:r>
            <a:endParaRPr lang="en-US" sz="1400"/>
          </a:p>
        </p:txBody>
      </p:sp>
      <p:sp>
        <p:nvSpPr>
          <p:cNvPr id="1635815741" name="Text 6"/>
          <p:cNvSpPr/>
          <p:nvPr/>
        </p:nvSpPr>
        <p:spPr bwMode="auto">
          <a:xfrm>
            <a:off x="594360" y="242316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feature taps: F4(24), F8(40),</a:t>
            </a:r>
            <a:endParaRPr lang="en-US" sz="1100"/>
          </a:p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F16(112), F32(160)</a:t>
            </a:r>
            <a:endParaRPr lang="en-US" sz="1100"/>
          </a:p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2.816M params</a:t>
            </a:r>
            <a:endParaRPr lang="en-US" sz="1100"/>
          </a:p>
        </p:txBody>
      </p:sp>
      <p:sp>
        <p:nvSpPr>
          <p:cNvPr id="1774785894" name="Shape 7"/>
          <p:cNvSpPr/>
          <p:nvPr/>
        </p:nvSpPr>
        <p:spPr bwMode="auto">
          <a:xfrm>
            <a:off x="3337560" y="100584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157460032" name="Shape 8"/>
          <p:cNvSpPr/>
          <p:nvPr/>
        </p:nvSpPr>
        <p:spPr bwMode="auto">
          <a:xfrm>
            <a:off x="3337560" y="1005840"/>
            <a:ext cx="260604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31419774" name="Text 9"/>
          <p:cNvSpPr/>
          <p:nvPr/>
        </p:nvSpPr>
        <p:spPr bwMode="auto">
          <a:xfrm>
            <a:off x="3337560" y="1005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Module 2</a:t>
            </a:r>
            <a:endParaRPr lang="en-US" sz="1400"/>
          </a:p>
        </p:txBody>
      </p:sp>
      <p:sp>
        <p:nvSpPr>
          <p:cNvPr id="867729788" name="Text 10"/>
          <p:cNvSpPr/>
          <p:nvPr/>
        </p:nvSpPr>
        <p:spPr bwMode="auto">
          <a:xfrm>
            <a:off x="3474720" y="16002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Task-Specific</a:t>
            </a:r>
            <a:endParaRPr lang="en-US" sz="1400"/>
          </a:p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Attention</a:t>
            </a:r>
            <a:endParaRPr lang="en-US" sz="1400"/>
          </a:p>
        </p:txBody>
      </p:sp>
      <p:sp>
        <p:nvSpPr>
          <p:cNvPr id="600271387" name="Text 11"/>
          <p:cNvSpPr/>
          <p:nvPr/>
        </p:nvSpPr>
        <p:spPr bwMode="auto">
          <a:xfrm>
            <a:off x="3474720" y="242316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Channel-wise 1x1 bottleneck</a:t>
            </a:r>
            <a:endParaRPr lang="en-US" sz="1100"/>
          </a:p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160→80→160 + Sigmoid</a:t>
            </a:r>
            <a:endParaRPr lang="en-US" sz="1100"/>
          </a:p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0.078M params (3 tasks)</a:t>
            </a:r>
            <a:endParaRPr lang="en-US" sz="1100"/>
          </a:p>
        </p:txBody>
      </p:sp>
      <p:sp>
        <p:nvSpPr>
          <p:cNvPr id="1321858249" name="Shape 12"/>
          <p:cNvSpPr/>
          <p:nvPr/>
        </p:nvSpPr>
        <p:spPr bwMode="auto">
          <a:xfrm>
            <a:off x="6217920" y="100584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696847551" name="Shape 13"/>
          <p:cNvSpPr/>
          <p:nvPr/>
        </p:nvSpPr>
        <p:spPr bwMode="auto">
          <a:xfrm>
            <a:off x="6217920" y="1005840"/>
            <a:ext cx="260604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96847743" name="Text 14"/>
          <p:cNvSpPr/>
          <p:nvPr/>
        </p:nvSpPr>
        <p:spPr bwMode="auto">
          <a:xfrm>
            <a:off x="6217920" y="1005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Module 3</a:t>
            </a:r>
            <a:endParaRPr lang="en-US" sz="1400"/>
          </a:p>
        </p:txBody>
      </p:sp>
      <p:sp>
        <p:nvSpPr>
          <p:cNvPr id="1694428605" name="Text 15"/>
          <p:cNvSpPr/>
          <p:nvPr/>
        </p:nvSpPr>
        <p:spPr bwMode="auto">
          <a:xfrm>
            <a:off x="6355080" y="16002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Parallel Decoders</a:t>
            </a:r>
            <a:endParaRPr lang="en-US" sz="1400"/>
          </a:p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+ Skip Connections</a:t>
            </a:r>
            <a:endParaRPr lang="en-US" sz="1400"/>
          </a:p>
        </p:txBody>
      </p:sp>
      <p:sp>
        <p:nvSpPr>
          <p:cNvPr id="860474323" name="Text 16"/>
          <p:cNvSpPr/>
          <p:nvPr/>
        </p:nvSpPr>
        <p:spPr bwMode="auto">
          <a:xfrm>
            <a:off x="6355080" y="242316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4-stage upsample: 256→128→64→32</a:t>
            </a:r>
            <a:endParaRPr lang="en-US" sz="1100"/>
          </a:p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Skip from F4, F8, F16</a:t>
            </a:r>
            <a:endParaRPr lang="en-US" sz="1100"/>
          </a:p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1.110M params each</a:t>
            </a:r>
            <a:endParaRPr lang="en-US" sz="1100"/>
          </a:p>
        </p:txBody>
      </p:sp>
      <p:sp>
        <p:nvSpPr>
          <p:cNvPr id="758186075" name="Text 17"/>
          <p:cNvSpPr/>
          <p:nvPr/>
        </p:nvSpPr>
        <p:spPr bwMode="auto"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RGB Input → Shared Encoder → Attention × 3 → Decoders × 3 → Depth | Seg | Normals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804336" name="Shape 0"/>
          <p:cNvSpPr/>
          <p:nvPr/>
        </p:nvSpPr>
        <p:spPr bwMode="auto"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78939098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130339880" name="Text 1"/>
          <p:cNvSpPr/>
          <p:nvPr/>
        </p:nvSpPr>
        <p:spPr bwMode="auto">
          <a:xfrm>
            <a:off x="100584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Architecture Diagrams</a:t>
            </a:r>
            <a:endParaRPr lang="en-US" sz="2400"/>
          </a:p>
        </p:txBody>
      </p:sp>
      <p:pic>
        <p:nvPicPr>
          <p:cNvPr id="60374720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315803" y="1947826"/>
            <a:ext cx="8512393" cy="1917000"/>
          </a:xfrm>
          <a:prstGeom prst="rect">
            <a:avLst/>
          </a:prstGeom>
        </p:spPr>
      </p:pic>
      <p:sp>
        <p:nvSpPr>
          <p:cNvPr id="1915454702" name=""/>
          <p:cNvSpPr txBox="1"/>
          <p:nvPr/>
        </p:nvSpPr>
        <p:spPr bwMode="auto">
          <a:xfrm rot="0" flipH="0" flipV="0">
            <a:off x="176329" y="1155825"/>
            <a:ext cx="296035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Module 1: Encoder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5656987" name="Shape 0"/>
          <p:cNvSpPr/>
          <p:nvPr/>
        </p:nvSpPr>
        <p:spPr bwMode="auto"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842710554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920913958" name="Text 1"/>
          <p:cNvSpPr/>
          <p:nvPr/>
        </p:nvSpPr>
        <p:spPr bwMode="auto">
          <a:xfrm>
            <a:off x="100584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Architecture Diagrams</a:t>
            </a:r>
            <a:endParaRPr lang="en-US" sz="2400"/>
          </a:p>
        </p:txBody>
      </p:sp>
      <p:sp>
        <p:nvSpPr>
          <p:cNvPr id="1697311451" name=""/>
          <p:cNvSpPr txBox="1"/>
          <p:nvPr/>
        </p:nvSpPr>
        <p:spPr bwMode="auto">
          <a:xfrm rot="0" flipH="0" flipV="0">
            <a:off x="176328" y="972765"/>
            <a:ext cx="296719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Module 2: Attention Module</a:t>
            </a:r>
            <a:endParaRPr/>
          </a:p>
        </p:txBody>
      </p:sp>
      <p:pic>
        <p:nvPicPr>
          <p:cNvPr id="172310464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41631" y="1495589"/>
            <a:ext cx="7843617" cy="33698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918400" name="Shape 0"/>
          <p:cNvSpPr/>
          <p:nvPr/>
        </p:nvSpPr>
        <p:spPr bwMode="auto"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67867773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1113537096" name="Text 1"/>
          <p:cNvSpPr/>
          <p:nvPr/>
        </p:nvSpPr>
        <p:spPr bwMode="auto">
          <a:xfrm>
            <a:off x="100584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Architecture Diagrams</a:t>
            </a:r>
            <a:endParaRPr lang="en-US" sz="2400"/>
          </a:p>
        </p:txBody>
      </p:sp>
      <p:sp>
        <p:nvSpPr>
          <p:cNvPr id="6002809" name=""/>
          <p:cNvSpPr txBox="1"/>
          <p:nvPr/>
        </p:nvSpPr>
        <p:spPr bwMode="auto">
          <a:xfrm rot="0" flipH="0" flipV="0">
            <a:off x="176328" y="879523"/>
            <a:ext cx="296431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Module 3: Decoder</a:t>
            </a:r>
            <a:endParaRPr/>
          </a:p>
        </p:txBody>
      </p:sp>
      <p:pic>
        <p:nvPicPr>
          <p:cNvPr id="211695399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85799" y="1245643"/>
            <a:ext cx="7826593" cy="36763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134357" name="Shape 0"/>
          <p:cNvSpPr/>
          <p:nvPr/>
        </p:nvSpPr>
        <p:spPr bwMode="auto"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45388468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1940362340" name="Text 1"/>
          <p:cNvSpPr/>
          <p:nvPr/>
        </p:nvSpPr>
        <p:spPr bwMode="auto">
          <a:xfrm>
            <a:off x="100584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Implementation: Loss Functions</a:t>
            </a:r>
            <a:endParaRPr lang="en-US" sz="2400"/>
          </a:p>
        </p:txBody>
      </p:sp>
      <p:sp>
        <p:nvSpPr>
          <p:cNvPr id="2026466868" name="Text 2"/>
          <p:cNvSpPr/>
          <p:nvPr/>
        </p:nvSpPr>
        <p:spPr bwMode="auto"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E2761"/>
                </a:solidFill>
                <a:latin typeface="Consolas"/>
                <a:ea typeface="Consolas"/>
                <a:cs typeface="Consolas"/>
              </a:rPr>
              <a:t>L_total = 1.0 × L_depth + 4.0 × L_seg + 0.5 × L_normal</a:t>
            </a:r>
            <a:endParaRPr lang="en-US" sz="1600"/>
          </a:p>
        </p:txBody>
      </p:sp>
      <p:sp>
        <p:nvSpPr>
          <p:cNvPr id="2078978687" name="Shape 3"/>
          <p:cNvSpPr/>
          <p:nvPr/>
        </p:nvSpPr>
        <p:spPr bwMode="auto">
          <a:xfrm>
            <a:off x="457200" y="169164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843899842" name="Shape 4"/>
          <p:cNvSpPr/>
          <p:nvPr/>
        </p:nvSpPr>
        <p:spPr bwMode="auto">
          <a:xfrm>
            <a:off x="457200" y="1691640"/>
            <a:ext cx="73152" cy="9601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48982848" name="Text 5"/>
          <p:cNvSpPr/>
          <p:nvPr/>
        </p:nvSpPr>
        <p:spPr bwMode="auto">
          <a:xfrm>
            <a:off x="73152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Scale-Invariant Depth Loss</a:t>
            </a:r>
            <a:endParaRPr lang="en-US" sz="1400"/>
          </a:p>
        </p:txBody>
      </p:sp>
      <p:sp>
        <p:nvSpPr>
          <p:cNvPr id="1211195037" name="Text 6"/>
          <p:cNvSpPr/>
          <p:nvPr/>
        </p:nvSpPr>
        <p:spPr bwMode="auto">
          <a:xfrm>
            <a:off x="731520" y="20391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Handles 1-80m range without overweighting distant pixels</a:t>
            </a:r>
            <a:endParaRPr lang="en-US" sz="1100"/>
          </a:p>
        </p:txBody>
      </p:sp>
      <p:sp>
        <p:nvSpPr>
          <p:cNvPr id="531289310" name="Text 7"/>
          <p:cNvSpPr/>
          <p:nvPr/>
        </p:nvSpPr>
        <p:spPr bwMode="auto">
          <a:xfrm>
            <a:off x="731520" y="23134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Log-space residuals with λ_si=0.5 for partial scale correction</a:t>
            </a:r>
            <a:endParaRPr lang="en-US" sz="1100"/>
          </a:p>
        </p:txBody>
      </p:sp>
      <p:sp>
        <p:nvSpPr>
          <p:cNvPr id="1167704726" name="Shape 8"/>
          <p:cNvSpPr/>
          <p:nvPr/>
        </p:nvSpPr>
        <p:spPr bwMode="auto">
          <a:xfrm>
            <a:off x="457200" y="278892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557283871" name="Shape 9"/>
          <p:cNvSpPr/>
          <p:nvPr/>
        </p:nvSpPr>
        <p:spPr bwMode="auto">
          <a:xfrm>
            <a:off x="457200" y="2788920"/>
            <a:ext cx="73152" cy="9601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8940177" name="Text 10"/>
          <p:cNvSpPr/>
          <p:nvPr/>
        </p:nvSpPr>
        <p:spPr bwMode="auto">
          <a:xfrm>
            <a:off x="73152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DiceFocal Segmentation Loss</a:t>
            </a:r>
            <a:endParaRPr lang="en-US" sz="1400"/>
          </a:p>
        </p:txBody>
      </p:sp>
      <p:sp>
        <p:nvSpPr>
          <p:cNvPr id="776510986" name="Text 11"/>
          <p:cNvSpPr/>
          <p:nvPr/>
        </p:nvSpPr>
        <p:spPr bwMode="auto">
          <a:xfrm>
            <a:off x="731520" y="31363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Handles extreme class imbalance (road 35% vs bicycle 0.3%)</a:t>
            </a:r>
            <a:endParaRPr lang="en-US" sz="1100"/>
          </a:p>
        </p:txBody>
      </p:sp>
      <p:sp>
        <p:nvSpPr>
          <p:cNvPr id="1131245183" name="Text 12"/>
          <p:cNvSpPr/>
          <p:nvPr/>
        </p:nvSpPr>
        <p:spPr bwMode="auto">
          <a:xfrm>
            <a:off x="731520" y="34107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0.5×Dice + 0.5×Focal(γ=2.0) with per-class alpha weights</a:t>
            </a:r>
            <a:endParaRPr lang="en-US" sz="1100"/>
          </a:p>
        </p:txBody>
      </p:sp>
      <p:sp>
        <p:nvSpPr>
          <p:cNvPr id="1767809771" name="Shape 13"/>
          <p:cNvSpPr/>
          <p:nvPr/>
        </p:nvSpPr>
        <p:spPr bwMode="auto">
          <a:xfrm>
            <a:off x="457200" y="388620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882373616" name="Shape 14"/>
          <p:cNvSpPr/>
          <p:nvPr/>
        </p:nvSpPr>
        <p:spPr bwMode="auto">
          <a:xfrm>
            <a:off x="457200" y="3886200"/>
            <a:ext cx="73152" cy="9601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32387819" name="Text 15"/>
          <p:cNvSpPr/>
          <p:nvPr/>
        </p:nvSpPr>
        <p:spPr bwMode="auto">
          <a:xfrm>
            <a:off x="73152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Cosine Similarity Normal Loss</a:t>
            </a:r>
            <a:endParaRPr lang="en-US" sz="1400"/>
          </a:p>
        </p:txBody>
      </p:sp>
      <p:sp>
        <p:nvSpPr>
          <p:cNvPr id="1783503488" name="Text 16"/>
          <p:cNvSpPr/>
          <p:nvPr/>
        </p:nvSpPr>
        <p:spPr bwMode="auto">
          <a:xfrm>
            <a:off x="731520" y="4233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Normals are unit vectors; angular comparison is geometrically correct</a:t>
            </a:r>
            <a:endParaRPr lang="en-US" sz="1100"/>
          </a:p>
        </p:txBody>
      </p:sp>
      <p:sp>
        <p:nvSpPr>
          <p:cNvPr id="858056868" name="Text 17"/>
          <p:cNvSpPr/>
          <p:nvPr/>
        </p:nvSpPr>
        <p:spPr bwMode="auto">
          <a:xfrm>
            <a:off x="731520" y="45079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Valid mask excludes sky + unreliable disparity regions</a:t>
            </a:r>
            <a:endParaRPr lang="en-US" sz="1100"/>
          </a:p>
        </p:txBody>
      </p:sp>
      <p:sp>
        <p:nvSpPr>
          <p:cNvPr id="326503463" name="Text 18"/>
          <p:cNvSpPr/>
          <p:nvPr/>
        </p:nvSpPr>
        <p:spPr bwMode="auto"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Fixed weights (not uncertainty-based) — pseudo-GT noise causes uncertainty weighting to suppress normal loss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674911" name="Shape 0"/>
          <p:cNvSpPr/>
          <p:nvPr/>
        </p:nvSpPr>
        <p:spPr bwMode="auto"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57841829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935245595" name="Text 1"/>
          <p:cNvSpPr/>
          <p:nvPr/>
        </p:nvSpPr>
        <p:spPr bwMode="auto">
          <a:xfrm>
            <a:off x="100584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Implementation: Surface Normal Generation</a:t>
            </a:r>
            <a:endParaRPr lang="en-US" sz="2400"/>
          </a:p>
        </p:txBody>
      </p:sp>
      <p:sp>
        <p:nvSpPr>
          <p:cNvPr id="1404141626" name="Shape 2"/>
          <p:cNvSpPr/>
          <p:nvPr/>
        </p:nvSpPr>
        <p:spPr bwMode="auto">
          <a:xfrm>
            <a:off x="868680" y="10972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9105163" name="Text 3"/>
          <p:cNvSpPr/>
          <p:nvPr/>
        </p:nvSpPr>
        <p:spPr bwMode="auto">
          <a:xfrm>
            <a:off x="86868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</a:t>
            </a:r>
            <a:endParaRPr lang="en-US" sz="2000"/>
          </a:p>
        </p:txBody>
      </p:sp>
      <p:sp>
        <p:nvSpPr>
          <p:cNvPr id="1431021051" name="Text 4"/>
          <p:cNvSpPr/>
          <p:nvPr/>
        </p:nvSpPr>
        <p:spPr bwMode="auto">
          <a:xfrm>
            <a:off x="27432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Stereo Disparity</a:t>
            </a:r>
            <a:endParaRPr lang="en-US" sz="1200"/>
          </a:p>
        </p:txBody>
      </p:sp>
      <p:sp>
        <p:nvSpPr>
          <p:cNvPr id="1423688043" name="Text 5"/>
          <p:cNvSpPr/>
          <p:nvPr/>
        </p:nvSpPr>
        <p:spPr bwMode="auto">
          <a:xfrm>
            <a:off x="274320" y="21945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Cityscapes precomputed</a:t>
            </a:r>
            <a:endParaRPr lang="en-US" sz="1000"/>
          </a:p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disparity maps</a:t>
            </a:r>
            <a:endParaRPr lang="en-US" sz="1000"/>
          </a:p>
        </p:txBody>
      </p:sp>
      <p:sp>
        <p:nvSpPr>
          <p:cNvPr id="1034293985" name="Shape 6"/>
          <p:cNvSpPr/>
          <p:nvPr/>
        </p:nvSpPr>
        <p:spPr bwMode="auto">
          <a:xfrm>
            <a:off x="2011680" y="1371600"/>
            <a:ext cx="13716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730188277" name="Shape 7"/>
          <p:cNvSpPr/>
          <p:nvPr/>
        </p:nvSpPr>
        <p:spPr bwMode="auto">
          <a:xfrm>
            <a:off x="2651760" y="10972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29056861" name="Text 8"/>
          <p:cNvSpPr/>
          <p:nvPr/>
        </p:nvSpPr>
        <p:spPr bwMode="auto">
          <a:xfrm>
            <a:off x="265176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</a:t>
            </a:r>
            <a:endParaRPr lang="en-US" sz="2000"/>
          </a:p>
        </p:txBody>
      </p:sp>
      <p:sp>
        <p:nvSpPr>
          <p:cNvPr id="1524365645" name="Text 9"/>
          <p:cNvSpPr/>
          <p:nvPr/>
        </p:nvSpPr>
        <p:spPr bwMode="auto">
          <a:xfrm>
            <a:off x="205740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Metric Depth</a:t>
            </a:r>
            <a:endParaRPr lang="en-US" sz="1200"/>
          </a:p>
        </p:txBody>
      </p:sp>
      <p:sp>
        <p:nvSpPr>
          <p:cNvPr id="1713941837" name="Text 10"/>
          <p:cNvSpPr/>
          <p:nvPr/>
        </p:nvSpPr>
        <p:spPr bwMode="auto">
          <a:xfrm>
            <a:off x="2057400" y="21945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z = b × fx / δ</a:t>
            </a:r>
            <a:endParaRPr lang="en-US" sz="1000"/>
          </a:p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Per-frame camera JSON</a:t>
            </a:r>
            <a:endParaRPr lang="en-US" sz="1000"/>
          </a:p>
        </p:txBody>
      </p:sp>
      <p:sp>
        <p:nvSpPr>
          <p:cNvPr id="940653930" name="Shape 11"/>
          <p:cNvSpPr/>
          <p:nvPr/>
        </p:nvSpPr>
        <p:spPr bwMode="auto">
          <a:xfrm>
            <a:off x="3794760" y="1371600"/>
            <a:ext cx="13716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045329324" name="Shape 12"/>
          <p:cNvSpPr/>
          <p:nvPr/>
        </p:nvSpPr>
        <p:spPr bwMode="auto">
          <a:xfrm>
            <a:off x="4434840" y="10972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046242" name="Text 13"/>
          <p:cNvSpPr/>
          <p:nvPr/>
        </p:nvSpPr>
        <p:spPr bwMode="auto">
          <a:xfrm>
            <a:off x="443484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</a:t>
            </a:r>
            <a:endParaRPr lang="en-US" sz="2000"/>
          </a:p>
        </p:txBody>
      </p:sp>
      <p:sp>
        <p:nvSpPr>
          <p:cNvPr id="1019793096" name="Text 14"/>
          <p:cNvSpPr/>
          <p:nvPr/>
        </p:nvSpPr>
        <p:spPr bwMode="auto">
          <a:xfrm>
            <a:off x="384048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Back-project 3D</a:t>
            </a:r>
            <a:endParaRPr lang="en-US" sz="1200"/>
          </a:p>
        </p:txBody>
      </p:sp>
      <p:sp>
        <p:nvSpPr>
          <p:cNvPr id="885773277" name="Text 15"/>
          <p:cNvSpPr/>
          <p:nvPr/>
        </p:nvSpPr>
        <p:spPr bwMode="auto">
          <a:xfrm>
            <a:off x="3840480" y="21945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Using camera intrinsics</a:t>
            </a:r>
            <a:endParaRPr lang="en-US" sz="1000"/>
          </a:p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(fx, fy, cx, cy)</a:t>
            </a:r>
            <a:endParaRPr lang="en-US" sz="1000"/>
          </a:p>
        </p:txBody>
      </p:sp>
      <p:sp>
        <p:nvSpPr>
          <p:cNvPr id="1574336175" name="Shape 16"/>
          <p:cNvSpPr/>
          <p:nvPr/>
        </p:nvSpPr>
        <p:spPr bwMode="auto">
          <a:xfrm>
            <a:off x="5577840" y="1371600"/>
            <a:ext cx="13716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499185060" name="Shape 17"/>
          <p:cNvSpPr/>
          <p:nvPr/>
        </p:nvSpPr>
        <p:spPr bwMode="auto">
          <a:xfrm>
            <a:off x="6217920" y="10972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97784840" name="Text 18"/>
          <p:cNvSpPr/>
          <p:nvPr/>
        </p:nvSpPr>
        <p:spPr bwMode="auto">
          <a:xfrm>
            <a:off x="621792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</a:t>
            </a:r>
            <a:endParaRPr lang="en-US" sz="2000"/>
          </a:p>
        </p:txBody>
      </p:sp>
      <p:sp>
        <p:nvSpPr>
          <p:cNvPr id="1941474852" name="Text 19"/>
          <p:cNvSpPr/>
          <p:nvPr/>
        </p:nvSpPr>
        <p:spPr bwMode="auto">
          <a:xfrm>
            <a:off x="562356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Cross-Product</a:t>
            </a:r>
            <a:endParaRPr lang="en-US" sz="1200"/>
          </a:p>
        </p:txBody>
      </p:sp>
      <p:sp>
        <p:nvSpPr>
          <p:cNvPr id="926441485" name="Text 20"/>
          <p:cNvSpPr/>
          <p:nvPr/>
        </p:nvSpPr>
        <p:spPr bwMode="auto">
          <a:xfrm>
            <a:off x="5623560" y="21945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DSINE d2n_tblr utility</a:t>
            </a:r>
            <a:endParaRPr lang="en-US" sz="1000"/>
          </a:p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5×5 finite-difference kernel</a:t>
            </a:r>
            <a:endParaRPr lang="en-US" sz="1000"/>
          </a:p>
        </p:txBody>
      </p:sp>
      <p:sp>
        <p:nvSpPr>
          <p:cNvPr id="935502897" name="Shape 21"/>
          <p:cNvSpPr/>
          <p:nvPr/>
        </p:nvSpPr>
        <p:spPr bwMode="auto">
          <a:xfrm>
            <a:off x="7360920" y="1371600"/>
            <a:ext cx="13716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616748283" name="Shape 22"/>
          <p:cNvSpPr/>
          <p:nvPr/>
        </p:nvSpPr>
        <p:spPr bwMode="auto">
          <a:xfrm>
            <a:off x="8001000" y="10972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8927890" name="Text 23"/>
          <p:cNvSpPr/>
          <p:nvPr/>
        </p:nvSpPr>
        <p:spPr bwMode="auto">
          <a:xfrm>
            <a:off x="800100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</a:t>
            </a:r>
            <a:endParaRPr lang="en-US" sz="2000"/>
          </a:p>
        </p:txBody>
      </p:sp>
      <p:sp>
        <p:nvSpPr>
          <p:cNvPr id="1090137609" name="Text 24"/>
          <p:cNvSpPr/>
          <p:nvPr/>
        </p:nvSpPr>
        <p:spPr bwMode="auto">
          <a:xfrm>
            <a:off x="740664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Normal Maps</a:t>
            </a:r>
            <a:endParaRPr lang="en-US" sz="1200"/>
          </a:p>
        </p:txBody>
      </p:sp>
      <p:sp>
        <p:nvSpPr>
          <p:cNvPr id="619763994" name="Text 25"/>
          <p:cNvSpPr/>
          <p:nvPr/>
        </p:nvSpPr>
        <p:spPr bwMode="auto">
          <a:xfrm>
            <a:off x="7406640" y="21945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3-channel float32</a:t>
            </a:r>
            <a:endParaRPr lang="en-US" sz="1000"/>
          </a:p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Camera coordinate frame</a:t>
            </a:r>
            <a:endParaRPr lang="en-US" sz="1000"/>
          </a:p>
        </p:txBody>
      </p:sp>
      <p:sp>
        <p:nvSpPr>
          <p:cNvPr id="291175792" name="Shape 26"/>
          <p:cNvSpPr/>
          <p:nvPr/>
        </p:nvSpPr>
        <p:spPr bwMode="auto">
          <a:xfrm>
            <a:off x="457200" y="320040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127463180" name="Text 27"/>
          <p:cNvSpPr/>
          <p:nvPr/>
        </p:nvSpPr>
        <p:spPr bwMode="auto">
          <a:xfrm>
            <a:off x="640080" y="3291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E2761"/>
                </a:solidFill>
                <a:latin typeface="Georgia"/>
                <a:ea typeface="Georgia"/>
                <a:cs typeface="Georgia"/>
              </a:rPr>
              <a:t>Why Geometric (not Neural)?</a:t>
            </a:r>
            <a:endParaRPr lang="en-US" sz="1500"/>
          </a:p>
        </p:txBody>
      </p:sp>
      <p:sp>
        <p:nvSpPr>
          <p:cNvPr id="1456059553" name="Text 28"/>
          <p:cNvSpPr/>
          <p:nvPr/>
        </p:nvSpPr>
        <p:spPr bwMode="auto">
          <a:xfrm>
            <a:off x="640080" y="37033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No domain gap — derived from physical stereo measurements, not a pretrained model</a:t>
            </a:r>
            <a:endParaRPr lang="en-US" sz="120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Fully deterministic and reproducible — no model weights or GPU inference needed</a:t>
            </a:r>
            <a:endParaRPr lang="en-US" sz="120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Avoids train-on-predictions circularity (DenseMTL used the same strategy)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175916" name="Shape 0"/>
          <p:cNvSpPr/>
          <p:nvPr/>
        </p:nvSpPr>
        <p:spPr bwMode="auto"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29695917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677828512" name="Text 1"/>
          <p:cNvSpPr/>
          <p:nvPr/>
        </p:nvSpPr>
        <p:spPr bwMode="auto">
          <a:xfrm>
            <a:off x="100584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Implementation: Training Configuration</a:t>
            </a:r>
            <a:endParaRPr lang="en-US" sz="2400"/>
          </a:p>
        </p:txBody>
      </p:sp>
      <p:graphicFrame>
        <p:nvGraphicFramePr>
          <p:cNvPr id="1253758023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914400" y="1097280"/>
          <a:ext cx="731520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286000"/>
                <a:gridCol w="5029200"/>
              </a:tblGrid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3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3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C7293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E2761"/>
                          </a:solidFill>
                        </a:rPr>
                        <a:t>Dataset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A202C"/>
                          </a:solidFill>
                        </a:rPr>
                        <a:t>Cityscapes — 2975 train / 500 val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E2761"/>
                          </a:solidFill>
                        </a:rPr>
                        <a:t>Resolution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A202C"/>
                          </a:solidFill>
                        </a:rPr>
                        <a:t>512 × 1024 (half native)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E2761"/>
                          </a:solidFill>
                        </a:rPr>
                        <a:t>Optimizer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A202C"/>
                          </a:solidFill>
                        </a:rPr>
                        <a:t>Adam, lr=1e-4, cosine annealing → 1e-6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E2761"/>
                          </a:solidFill>
                        </a:rPr>
                        <a:t>Batch Size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A202C"/>
                          </a:solidFill>
                        </a:rPr>
                        <a:t>2 (4GB VRAM constraint)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E2761"/>
                          </a:solidFill>
                        </a:rPr>
                        <a:t>Epochs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A202C"/>
                          </a:solidFill>
                        </a:rPr>
                        <a:t>80 (best checkpoint at epoch 72)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E2761"/>
                          </a:solidFill>
                        </a:rPr>
                        <a:t>Augmentation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A202C"/>
                          </a:solidFill>
                        </a:rPr>
                        <a:t>Random H-flip, color jitter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E2761"/>
                          </a:solidFill>
                        </a:rPr>
                        <a:t>Encoder Init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A202C"/>
                          </a:solidFill>
                        </a:rPr>
                        <a:t>ImageNet-pretrained MobileNetV3-Large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E2761"/>
                          </a:solidFill>
                        </a:rPr>
                        <a:t>Hardware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A202C"/>
                          </a:solidFill>
                        </a:rPr>
                        <a:t>NVIDIA GTX 1650 (4GB), ~48 hours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023766" name="Shape 0"/>
          <p:cNvSpPr/>
          <p:nvPr/>
        </p:nvSpPr>
        <p:spPr bwMode="auto"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99536724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1315225274" name="Text 1"/>
          <p:cNvSpPr/>
          <p:nvPr/>
        </p:nvSpPr>
        <p:spPr bwMode="auto">
          <a:xfrm>
            <a:off x="100584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Implementation: Dataset &amp; Resolution Choice</a:t>
            </a:r>
            <a:endParaRPr lang="en-US" sz="2400"/>
          </a:p>
        </p:txBody>
      </p:sp>
      <p:sp>
        <p:nvSpPr>
          <p:cNvPr id="1683417836" name="Shape 2"/>
          <p:cNvSpPr/>
          <p:nvPr/>
        </p:nvSpPr>
        <p:spPr bwMode="auto">
          <a:xfrm>
            <a:off x="457200" y="100584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880307012" name="Shape 3"/>
          <p:cNvSpPr/>
          <p:nvPr/>
        </p:nvSpPr>
        <p:spPr bwMode="auto">
          <a:xfrm>
            <a:off x="457200" y="1005840"/>
            <a:ext cx="260604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27177862" name="Text 4"/>
          <p:cNvSpPr/>
          <p:nvPr/>
        </p:nvSpPr>
        <p:spPr bwMode="auto">
          <a:xfrm>
            <a:off x="457200" y="10058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Depth GT</a:t>
            </a:r>
            <a:endParaRPr lang="en-US" sz="1300"/>
          </a:p>
        </p:txBody>
      </p:sp>
      <p:sp>
        <p:nvSpPr>
          <p:cNvPr id="28754705" name="Text 5"/>
          <p:cNvSpPr/>
          <p:nvPr/>
        </p:nvSpPr>
        <p:spPr bwMode="auto">
          <a:xfrm>
            <a:off x="594360" y="1508759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Stereo disparity → metric depth</a:t>
            </a:r>
            <a:endParaRPr lang="en-US" sz="1100"/>
          </a:p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z = b × fx / δ</a:t>
            </a:r>
            <a:endParaRPr lang="en-US" sz="1100"/>
          </a:p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Range: 1m to 80m+</a:t>
            </a:r>
            <a:endParaRPr lang="en-US" sz="1100"/>
          </a:p>
        </p:txBody>
      </p:sp>
      <p:sp>
        <p:nvSpPr>
          <p:cNvPr id="513129874" name="Shape 6"/>
          <p:cNvSpPr/>
          <p:nvPr/>
        </p:nvSpPr>
        <p:spPr bwMode="auto">
          <a:xfrm>
            <a:off x="3337560" y="100584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534588029" name="Shape 7"/>
          <p:cNvSpPr/>
          <p:nvPr/>
        </p:nvSpPr>
        <p:spPr bwMode="auto">
          <a:xfrm>
            <a:off x="3337560" y="1005840"/>
            <a:ext cx="2606040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93026391" name="Text 8"/>
          <p:cNvSpPr/>
          <p:nvPr/>
        </p:nvSpPr>
        <p:spPr bwMode="auto">
          <a:xfrm>
            <a:off x="3337560" y="10058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Segmentation GT</a:t>
            </a:r>
            <a:endParaRPr lang="en-US" sz="1300"/>
          </a:p>
        </p:txBody>
      </p:sp>
      <p:sp>
        <p:nvSpPr>
          <p:cNvPr id="840550796" name="Text 9"/>
          <p:cNvSpPr/>
          <p:nvPr/>
        </p:nvSpPr>
        <p:spPr bwMode="auto">
          <a:xfrm>
            <a:off x="3474720" y="1508759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Native Cityscapes fine annotations</a:t>
            </a:r>
            <a:endParaRPr lang="en-US" sz="1100"/>
          </a:p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19 evaluation classes</a:t>
            </a:r>
            <a:endParaRPr lang="en-US" sz="1100"/>
          </a:p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5000 finely annotated images</a:t>
            </a:r>
            <a:endParaRPr lang="en-US" sz="1100"/>
          </a:p>
        </p:txBody>
      </p:sp>
      <p:sp>
        <p:nvSpPr>
          <p:cNvPr id="1292031857" name="Shape 10"/>
          <p:cNvSpPr/>
          <p:nvPr/>
        </p:nvSpPr>
        <p:spPr bwMode="auto">
          <a:xfrm>
            <a:off x="6217920" y="100584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506354589" name="Shape 11"/>
          <p:cNvSpPr/>
          <p:nvPr/>
        </p:nvSpPr>
        <p:spPr bwMode="auto">
          <a:xfrm>
            <a:off x="6217920" y="1005840"/>
            <a:ext cx="260604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99085638" name="Text 12"/>
          <p:cNvSpPr/>
          <p:nvPr/>
        </p:nvSpPr>
        <p:spPr bwMode="auto">
          <a:xfrm>
            <a:off x="6217920" y="10058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Normal GT</a:t>
            </a:r>
            <a:endParaRPr lang="en-US" sz="1300"/>
          </a:p>
        </p:txBody>
      </p:sp>
      <p:sp>
        <p:nvSpPr>
          <p:cNvPr id="317353566" name="Text 13"/>
          <p:cNvSpPr/>
          <p:nvPr/>
        </p:nvSpPr>
        <p:spPr bwMode="auto">
          <a:xfrm>
            <a:off x="6355080" y="1508759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Geometric cross-product pipeline</a:t>
            </a:r>
            <a:endParaRPr lang="en-US" sz="1100"/>
          </a:p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From stereo-derived depth</a:t>
            </a:r>
            <a:endParaRPr lang="en-US" sz="1100"/>
          </a:p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DSINE d2n_tblr, k=5</a:t>
            </a:r>
            <a:endParaRPr lang="en-US" sz="1100"/>
          </a:p>
        </p:txBody>
      </p:sp>
      <p:sp>
        <p:nvSpPr>
          <p:cNvPr id="2050797264" name="Shape 14"/>
          <p:cNvSpPr/>
          <p:nvPr/>
        </p:nvSpPr>
        <p:spPr bwMode="auto">
          <a:xfrm>
            <a:off x="457200" y="292608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617767844" name="Text 15"/>
          <p:cNvSpPr/>
          <p:nvPr/>
        </p:nvSpPr>
        <p:spPr bwMode="auto">
          <a:xfrm>
            <a:off x="640080" y="3017519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E2761"/>
                </a:solidFill>
                <a:latin typeface="Georgia"/>
                <a:ea typeface="Georgia"/>
                <a:cs typeface="Georgia"/>
              </a:rPr>
              <a:t>Why 512 × 1024?</a:t>
            </a:r>
            <a:endParaRPr lang="en-US" sz="1500"/>
          </a:p>
        </p:txBody>
      </p:sp>
      <p:sp>
        <p:nvSpPr>
          <p:cNvPr id="1774043955" name="Text 16"/>
          <p:cNvSpPr/>
          <p:nvPr/>
        </p:nvSpPr>
        <p:spPr bwMode="auto">
          <a:xfrm>
            <a:off x="640080" y="34290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1024×2048 (native): Exceeds 4GB VRAM with 3 decoders at batch size 2</a:t>
            </a:r>
            <a:endParaRPr lang="en-US" sz="120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128×256 (MTAN): 16× fewer pixels, small classes unresolvable, limited to 7 classes</a:t>
            </a:r>
            <a:endParaRPr lang="en-US" sz="120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512×1024 (ours): Preserves 1:2 aspect ratio, all 19 classes visible, 39.6 FPS real-time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611539" name="Shape 0"/>
          <p:cNvSpPr/>
          <p:nvPr/>
        </p:nvSpPr>
        <p:spPr bwMode="auto"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6100786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1736425503" name="Text 1"/>
          <p:cNvSpPr/>
          <p:nvPr/>
        </p:nvSpPr>
        <p:spPr bwMode="auto">
          <a:xfrm>
            <a:off x="100584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Results: Comparison with Existing Methods</a:t>
            </a:r>
            <a:endParaRPr lang="en-US" sz="2400"/>
          </a:p>
        </p:txBody>
      </p:sp>
      <p:graphicFrame>
        <p:nvGraphicFramePr>
          <p:cNvPr id="1272885542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274320" y="1005840"/>
          <a:ext cx="859536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463040"/>
                <a:gridCol w="731520"/>
                <a:gridCol w="731520"/>
                <a:gridCol w="914400"/>
                <a:gridCol w="914400"/>
                <a:gridCol w="914400"/>
                <a:gridCol w="914400"/>
                <a:gridCol w="731520"/>
              </a:tblGrid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Tasks</a:t>
                      </a:r>
                      <a:endParaRPr lang="en-US" sz="11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Params</a:t>
                      </a:r>
                      <a:endParaRPr lang="en-US" sz="11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mIoU%</a:t>
                      </a:r>
                      <a:endParaRPr lang="en-US" sz="11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δ₁</a:t>
                      </a:r>
                      <a:endParaRPr lang="en-US" sz="11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N-MAE°</a:t>
                      </a:r>
                      <a:endParaRPr lang="en-US" sz="11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FPS</a:t>
                      </a:r>
                      <a:endParaRPr lang="en-US" sz="11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C7293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MTAN†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MTL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2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32.4M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51.9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0.776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--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--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DenseMTL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MTL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4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--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--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--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--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--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SegFormer-B0‡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Single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1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3.8M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71.9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--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--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48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DeepLabv3+‡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Single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1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5.8M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72.5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--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--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1A202C"/>
                          </a:solidFill>
                        </a:rPr>
                        <a:t>--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Ours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MTL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6.2M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70.1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0.849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49.1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39.6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0A896"/>
                    </a:solidFill>
                  </a:tcPr>
                </a:tc>
              </a:tr>
            </a:tbl>
          </a:graphicData>
        </a:graphic>
      </p:graphicFrame>
      <p:sp>
        <p:nvSpPr>
          <p:cNvPr id="1416449462" name="Shape 2"/>
          <p:cNvSpPr/>
          <p:nvPr/>
        </p:nvSpPr>
        <p:spPr bwMode="auto">
          <a:xfrm>
            <a:off x="457200" y="329184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5822079" name="Text 3"/>
          <p:cNvSpPr/>
          <p:nvPr/>
        </p:nvSpPr>
        <p:spPr bwMode="auto">
          <a:xfrm>
            <a:off x="640080" y="3383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E2761"/>
                </a:solidFill>
                <a:latin typeface="Georgia"/>
                <a:ea typeface="Georgia"/>
                <a:cs typeface="Georgia"/>
              </a:rPr>
              <a:t>Key Takeaways</a:t>
            </a:r>
            <a:endParaRPr lang="en-US" sz="1500"/>
          </a:p>
        </p:txBody>
      </p:sp>
      <p:sp>
        <p:nvSpPr>
          <p:cNvPr id="992904106" name="Text 4"/>
          <p:cNvSpPr/>
          <p:nvPr/>
        </p:nvSpPr>
        <p:spPr bwMode="auto">
          <a:xfrm>
            <a:off x="640080" y="37490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Within 1.8% mIoU of SegFormer-B0 while predicting 3 tasks (not just 1)</a:t>
            </a:r>
            <a:endParaRPr lang="en-US" sz="120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81% fewer parameters than MTAN, 16× more pixels, +1 additional task</a:t>
            </a:r>
            <a:endParaRPr lang="en-US" sz="120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First lightweight 3-task MTL on full 19-class Cityscapes at real-time speed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020214" name="Shape 0"/>
          <p:cNvSpPr/>
          <p:nvPr/>
        </p:nvSpPr>
        <p:spPr bwMode="auto"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90661989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372642771" name="Text 1"/>
          <p:cNvSpPr/>
          <p:nvPr/>
        </p:nvSpPr>
        <p:spPr bwMode="auto">
          <a:xfrm>
            <a:off x="100584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Results: Per-Class Segmentation IoU</a:t>
            </a:r>
            <a:endParaRPr lang="en-US" sz="2400"/>
          </a:p>
        </p:txBody>
      </p:sp>
      <p:graphicFrame>
        <p:nvGraphicFramePr>
          <p:cNvPr id="45224875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274320" y="914400"/>
          <a:ext cx="8595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09786843" name="Text 2"/>
          <p:cNvSpPr/>
          <p:nvPr/>
        </p:nvSpPr>
        <p:spPr bwMode="auto"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mIoU = 70.1%  |  No class below 48%  |  DiceFocal loss prevents ignoring rare classes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354296" name="Shape 0"/>
          <p:cNvSpPr/>
          <p:nvPr/>
        </p:nvSpPr>
        <p:spPr bwMode="auto"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317671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1531045107" name="Text 1"/>
          <p:cNvSpPr/>
          <p:nvPr/>
        </p:nvSpPr>
        <p:spPr bwMode="auto">
          <a:xfrm>
            <a:off x="100584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Results: Ablation Study — MTL vs Single-Task</a:t>
            </a:r>
            <a:endParaRPr lang="en-US" sz="2400"/>
          </a:p>
        </p:txBody>
      </p:sp>
      <p:graphicFrame>
        <p:nvGraphicFramePr>
          <p:cNvPr id="2087010537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914400" y="1097280"/>
          <a:ext cx="731520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828800"/>
                <a:gridCol w="1371600"/>
                <a:gridCol w="1371600"/>
                <a:gridCol w="1371600"/>
                <a:gridCol w="1371600"/>
              </a:tblGrid>
              <a:tr h="41148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Variant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mIoU (%)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δ₁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AbsRel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N-MAE (°)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C7293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A202C"/>
                          </a:solidFill>
                        </a:rPr>
                        <a:t>Depth only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A202C"/>
                          </a:solidFill>
                        </a:rPr>
                        <a:t>--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A202C"/>
                          </a:solidFill>
                        </a:rPr>
                        <a:t>0.855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A202C"/>
                          </a:solidFill>
                        </a:rPr>
                        <a:t>0.118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A202C"/>
                          </a:solidFill>
                        </a:rPr>
                        <a:t>--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A202C"/>
                          </a:solidFill>
                        </a:rPr>
                        <a:t>Seg only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A202C"/>
                          </a:solidFill>
                        </a:rPr>
                        <a:t>66.8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A202C"/>
                          </a:solidFill>
                        </a:rPr>
                        <a:t>--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A202C"/>
                          </a:solidFill>
                        </a:rPr>
                        <a:t>--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A202C"/>
                          </a:solidFill>
                        </a:rPr>
                        <a:t>--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A202C"/>
                          </a:solidFill>
                        </a:rPr>
                        <a:t>Normal only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A202C"/>
                          </a:solidFill>
                        </a:rPr>
                        <a:t>--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A202C"/>
                          </a:solidFill>
                        </a:rPr>
                        <a:t>--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A202C"/>
                          </a:solidFill>
                        </a:rPr>
                        <a:t>--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A202C"/>
                          </a:solidFill>
                        </a:rPr>
                        <a:t>48.6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Full (3 tasks)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70.1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0.849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0.123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49.1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0A896"/>
                    </a:solidFill>
                  </a:tcPr>
                </a:tc>
              </a:tr>
            </a:tbl>
          </a:graphicData>
        </a:graphic>
      </p:graphicFrame>
      <p:sp>
        <p:nvSpPr>
          <p:cNvPr id="806326784" name="Shape 2"/>
          <p:cNvSpPr/>
          <p:nvPr/>
        </p:nvSpPr>
        <p:spPr bwMode="auto">
          <a:xfrm>
            <a:off x="457200" y="3200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81099674" name="Text 3"/>
          <p:cNvSpPr/>
          <p:nvPr/>
        </p:nvSpPr>
        <p:spPr bwMode="auto">
          <a:xfrm>
            <a:off x="640080" y="3291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E2761"/>
                </a:solidFill>
                <a:latin typeface="Georgia"/>
                <a:ea typeface="Georgia"/>
                <a:cs typeface="Georgia"/>
              </a:rPr>
              <a:t>Key Findings</a:t>
            </a:r>
            <a:endParaRPr lang="en-US" sz="1500"/>
          </a:p>
        </p:txBody>
      </p:sp>
      <p:sp>
        <p:nvSpPr>
          <p:cNvPr id="417036415" name="Text 4"/>
          <p:cNvSpPr/>
          <p:nvPr/>
        </p:nvSpPr>
        <p:spPr bwMode="auto">
          <a:xfrm>
            <a:off x="640080" y="36576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200" b="1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MTL improves segmentation by +3.3% mIoU over single-task (70.1% vs 66.8%)</a:t>
            </a:r>
            <a:endParaRPr lang="en-US" sz="120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Depth drops only 0.6% δ₁ — minimal negative transfer</a:t>
            </a:r>
            <a:endParaRPr lang="en-US" sz="120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Normal MAE increases only 0.5° — negligible degradation</a:t>
            </a:r>
            <a:endParaRPr lang="en-US" sz="120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Task-specific attention effectively prevents cross-task interference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262278" name="Shape 0"/>
          <p:cNvSpPr/>
          <p:nvPr/>
        </p:nvSpPr>
        <p:spPr bwMode="auto"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05278193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349791598" name="Text 1"/>
          <p:cNvSpPr/>
          <p:nvPr/>
        </p:nvSpPr>
        <p:spPr bwMode="auto">
          <a:xfrm>
            <a:off x="100584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Results: Surface Normal Per-Category Analysis</a:t>
            </a:r>
            <a:endParaRPr lang="en-US" sz="2400"/>
          </a:p>
        </p:txBody>
      </p:sp>
      <p:sp>
        <p:nvSpPr>
          <p:cNvPr id="198489085" name="Shape 2"/>
          <p:cNvSpPr/>
          <p:nvPr/>
        </p:nvSpPr>
        <p:spPr bwMode="auto">
          <a:xfrm>
            <a:off x="457200" y="1005840"/>
            <a:ext cx="8229600" cy="2926080"/>
          </a:xfrm>
          <a:prstGeom prst="rect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2060299149" name="Text 3"/>
          <p:cNvSpPr/>
          <p:nvPr/>
        </p:nvSpPr>
        <p:spPr bwMode="auto"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[Paste radar_sne_metrics.png here]</a:t>
            </a:r>
            <a:endParaRPr lang="en-US" sz="1400"/>
          </a:p>
        </p:txBody>
      </p:sp>
      <p:sp>
        <p:nvSpPr>
          <p:cNvPr id="1923884876" name="Text 4"/>
          <p:cNvSpPr/>
          <p:nvPr/>
        </p:nvSpPr>
        <p:spPr bwMode="auto">
          <a:xfrm>
            <a:off x="457200" y="4114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Roadway (25.1°) and Walkway (32.7°) — planar surfaces, reliable stereo GT</a:t>
            </a:r>
            <a:endParaRPr lang="en-US" sz="120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Building (70.0°) and Vegetation (70.4°) — complex geometry + noisy pseudo-GT</a:t>
            </a:r>
            <a:endParaRPr lang="en-US" sz="120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200" b="1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Bottleneck is pseudo-GT quality, not network capacity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474411" name="Shape 0"/>
          <p:cNvSpPr/>
          <p:nvPr/>
        </p:nvSpPr>
        <p:spPr bwMode="auto"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20974714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1076251103" name="Text 1"/>
          <p:cNvSpPr/>
          <p:nvPr/>
        </p:nvSpPr>
        <p:spPr bwMode="auto">
          <a:xfrm>
            <a:off x="100584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Results: Inference Efficiency</a:t>
            </a:r>
            <a:endParaRPr lang="en-US" sz="2400"/>
          </a:p>
        </p:txBody>
      </p:sp>
      <p:sp>
        <p:nvSpPr>
          <p:cNvPr id="144814185" name="Shape 2"/>
          <p:cNvSpPr/>
          <p:nvPr/>
        </p:nvSpPr>
        <p:spPr bwMode="auto">
          <a:xfrm>
            <a:off x="274320" y="109728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080915656" name="Text 3"/>
          <p:cNvSpPr/>
          <p:nvPr/>
        </p:nvSpPr>
        <p:spPr bwMode="auto">
          <a:xfrm>
            <a:off x="274320" y="1280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00A896"/>
                </a:solidFill>
                <a:latin typeface="Georgia"/>
                <a:ea typeface="Georgia"/>
                <a:cs typeface="Georgia"/>
              </a:rPr>
              <a:t>39.6 FPS</a:t>
            </a:r>
            <a:endParaRPr lang="en-US" sz="2800"/>
          </a:p>
        </p:txBody>
      </p:sp>
      <p:sp>
        <p:nvSpPr>
          <p:cNvPr id="1036281480" name="Text 4"/>
          <p:cNvSpPr/>
          <p:nvPr/>
        </p:nvSpPr>
        <p:spPr bwMode="auto">
          <a:xfrm>
            <a:off x="27432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Inference Speed</a:t>
            </a:r>
            <a:endParaRPr lang="en-US" sz="1300"/>
          </a:p>
        </p:txBody>
      </p:sp>
      <p:sp>
        <p:nvSpPr>
          <p:cNvPr id="579945769" name="Text 5"/>
          <p:cNvSpPr/>
          <p:nvPr/>
        </p:nvSpPr>
        <p:spPr bwMode="auto">
          <a:xfrm>
            <a:off x="274320" y="23774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&gt; 30 FPS real-time</a:t>
            </a:r>
            <a:endParaRPr lang="en-US" sz="1100"/>
          </a:p>
        </p:txBody>
      </p:sp>
      <p:sp>
        <p:nvSpPr>
          <p:cNvPr id="1518770315" name="Shape 6"/>
          <p:cNvSpPr/>
          <p:nvPr/>
        </p:nvSpPr>
        <p:spPr bwMode="auto">
          <a:xfrm>
            <a:off x="2514600" y="109728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077828146" name="Text 7"/>
          <p:cNvSpPr/>
          <p:nvPr/>
        </p:nvSpPr>
        <p:spPr bwMode="auto">
          <a:xfrm>
            <a:off x="2514600" y="1280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065A82"/>
                </a:solidFill>
                <a:latin typeface="Georgia"/>
                <a:ea typeface="Georgia"/>
                <a:cs typeface="Georgia"/>
              </a:rPr>
              <a:t>25.2 ms</a:t>
            </a:r>
            <a:endParaRPr lang="en-US" sz="2800"/>
          </a:p>
        </p:txBody>
      </p:sp>
      <p:sp>
        <p:nvSpPr>
          <p:cNvPr id="460244745" name="Text 8"/>
          <p:cNvSpPr/>
          <p:nvPr/>
        </p:nvSpPr>
        <p:spPr bwMode="auto">
          <a:xfrm>
            <a:off x="251460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Latency</a:t>
            </a:r>
            <a:endParaRPr lang="en-US" sz="1300"/>
          </a:p>
        </p:txBody>
      </p:sp>
      <p:sp>
        <p:nvSpPr>
          <p:cNvPr id="522205856" name="Text 9"/>
          <p:cNvSpPr/>
          <p:nvPr/>
        </p:nvSpPr>
        <p:spPr bwMode="auto">
          <a:xfrm>
            <a:off x="2514600" y="23774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Per-frame</a:t>
            </a:r>
            <a:endParaRPr lang="en-US" sz="1100"/>
          </a:p>
        </p:txBody>
      </p:sp>
      <p:sp>
        <p:nvSpPr>
          <p:cNvPr id="1518858061" name="Shape 10"/>
          <p:cNvSpPr/>
          <p:nvPr/>
        </p:nvSpPr>
        <p:spPr bwMode="auto">
          <a:xfrm>
            <a:off x="4754880" y="109728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241815330" name="Text 11"/>
          <p:cNvSpPr/>
          <p:nvPr/>
        </p:nvSpPr>
        <p:spPr bwMode="auto">
          <a:xfrm>
            <a:off x="4754880" y="1280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1C7293"/>
                </a:solidFill>
                <a:latin typeface="Georgia"/>
                <a:ea typeface="Georgia"/>
                <a:cs typeface="Georgia"/>
              </a:rPr>
              <a:t>102 MB</a:t>
            </a:r>
            <a:endParaRPr lang="en-US" sz="2800"/>
          </a:p>
        </p:txBody>
      </p:sp>
      <p:sp>
        <p:nvSpPr>
          <p:cNvPr id="410817290" name="Text 12"/>
          <p:cNvSpPr/>
          <p:nvPr/>
        </p:nvSpPr>
        <p:spPr bwMode="auto">
          <a:xfrm>
            <a:off x="475488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GPU Memory</a:t>
            </a:r>
            <a:endParaRPr lang="en-US" sz="1300"/>
          </a:p>
        </p:txBody>
      </p:sp>
      <p:sp>
        <p:nvSpPr>
          <p:cNvPr id="898682264" name="Text 13"/>
          <p:cNvSpPr/>
          <p:nvPr/>
        </p:nvSpPr>
        <p:spPr bwMode="auto">
          <a:xfrm>
            <a:off x="4754880" y="23774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Peak consumption</a:t>
            </a:r>
            <a:endParaRPr lang="en-US" sz="1100"/>
          </a:p>
        </p:txBody>
      </p:sp>
      <p:sp>
        <p:nvSpPr>
          <p:cNvPr id="1646497106" name="Shape 14"/>
          <p:cNvSpPr/>
          <p:nvPr/>
        </p:nvSpPr>
        <p:spPr bwMode="auto">
          <a:xfrm>
            <a:off x="6995160" y="109728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813689732" name="Text 15"/>
          <p:cNvSpPr/>
          <p:nvPr/>
        </p:nvSpPr>
        <p:spPr bwMode="auto">
          <a:xfrm>
            <a:off x="6995160" y="1280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16A34A"/>
                </a:solidFill>
                <a:latin typeface="Georgia"/>
                <a:ea typeface="Georgia"/>
                <a:cs typeface="Georgia"/>
              </a:rPr>
              <a:t>6.2M</a:t>
            </a:r>
            <a:endParaRPr lang="en-US" sz="2800"/>
          </a:p>
        </p:txBody>
      </p:sp>
      <p:sp>
        <p:nvSpPr>
          <p:cNvPr id="2069635389" name="Text 16"/>
          <p:cNvSpPr/>
          <p:nvPr/>
        </p:nvSpPr>
        <p:spPr bwMode="auto">
          <a:xfrm>
            <a:off x="699516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Parameters</a:t>
            </a:r>
            <a:endParaRPr lang="en-US" sz="1300"/>
          </a:p>
        </p:txBody>
      </p:sp>
      <p:sp>
        <p:nvSpPr>
          <p:cNvPr id="1843468199" name="Text 17"/>
          <p:cNvSpPr/>
          <p:nvPr/>
        </p:nvSpPr>
        <p:spPr bwMode="auto">
          <a:xfrm>
            <a:off x="6995160" y="23774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81% less than MTAN</a:t>
            </a:r>
            <a:endParaRPr lang="en-US" sz="1100"/>
          </a:p>
        </p:txBody>
      </p:sp>
      <p:sp>
        <p:nvSpPr>
          <p:cNvPr id="2085852274" name="Shape 18"/>
          <p:cNvSpPr/>
          <p:nvPr/>
        </p:nvSpPr>
        <p:spPr bwMode="auto">
          <a:xfrm>
            <a:off x="457200" y="347472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796299549" name="Text 19"/>
          <p:cNvSpPr/>
          <p:nvPr/>
        </p:nvSpPr>
        <p:spPr bwMode="auto">
          <a:xfrm>
            <a:off x="640080" y="35661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5.2× smaller than MTAN (32.4M params)</a:t>
            </a:r>
            <a:endParaRPr lang="en-US" sz="120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Order of magnitude smaller than InvPT (ViT-Large, &gt;300M) and MTMamba (Swin-Large, 308MB)</a:t>
            </a:r>
            <a:endParaRPr lang="en-US" sz="120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Benchmarked on NVIDIA GTX 1650 (4GB VRAM) — consumer-grade hardware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9478988" name="Shape 0"/>
          <p:cNvSpPr/>
          <p:nvPr/>
        </p:nvSpPr>
        <p:spPr bwMode="auto"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47116059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1519775965" name="Text 1"/>
          <p:cNvSpPr/>
          <p:nvPr/>
        </p:nvSpPr>
        <p:spPr bwMode="auto">
          <a:xfrm>
            <a:off x="100584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Results: Qualitative Predictions</a:t>
            </a:r>
            <a:endParaRPr lang="en-US" sz="2400"/>
          </a:p>
        </p:txBody>
      </p:sp>
      <p:sp>
        <p:nvSpPr>
          <p:cNvPr id="1087941526" name="Shape 2"/>
          <p:cNvSpPr/>
          <p:nvPr/>
        </p:nvSpPr>
        <p:spPr bwMode="auto">
          <a:xfrm>
            <a:off x="457200" y="914400"/>
            <a:ext cx="8229600" cy="1188720"/>
          </a:xfrm>
          <a:prstGeom prst="rect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1729859673" name="Text 3"/>
          <p:cNvSpPr/>
          <p:nvPr/>
        </p:nvSpPr>
        <p:spPr bwMode="auto"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[Paste sample_0000.png — RGB | Depth | Seg | Normals]</a:t>
            </a:r>
            <a:endParaRPr lang="en-US" sz="1200"/>
          </a:p>
        </p:txBody>
      </p:sp>
      <p:sp>
        <p:nvSpPr>
          <p:cNvPr id="451883945" name="Shape 4"/>
          <p:cNvSpPr/>
          <p:nvPr/>
        </p:nvSpPr>
        <p:spPr bwMode="auto">
          <a:xfrm>
            <a:off x="457200" y="2286000"/>
            <a:ext cx="8229600" cy="1188720"/>
          </a:xfrm>
          <a:prstGeom prst="rect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1120216620" name="Text 5"/>
          <p:cNvSpPr/>
          <p:nvPr/>
        </p:nvSpPr>
        <p:spPr bwMode="auto"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[Paste sample_0002.png — RGB | Depth | Seg | Normals]</a:t>
            </a:r>
            <a:endParaRPr lang="en-US" sz="1200"/>
          </a:p>
        </p:txBody>
      </p:sp>
      <p:sp>
        <p:nvSpPr>
          <p:cNvPr id="808430620" name="Shape 6"/>
          <p:cNvSpPr/>
          <p:nvPr/>
        </p:nvSpPr>
        <p:spPr bwMode="auto">
          <a:xfrm>
            <a:off x="457200" y="3657600"/>
            <a:ext cx="8229600" cy="1188720"/>
          </a:xfrm>
          <a:prstGeom prst="rect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404492304" name="Text 7"/>
          <p:cNvSpPr/>
          <p:nvPr/>
        </p:nvSpPr>
        <p:spPr bwMode="auto"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[Paste sample_0004.png — RGB | Depth | Seg | Normals]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5028188" name="Shape 0"/>
          <p:cNvSpPr/>
          <p:nvPr/>
        </p:nvSpPr>
        <p:spPr bwMode="auto"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09546199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206952416" name="Text 1"/>
          <p:cNvSpPr/>
          <p:nvPr/>
        </p:nvSpPr>
        <p:spPr bwMode="auto">
          <a:xfrm>
            <a:off x="100584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Challenges &amp; Solutions</a:t>
            </a:r>
            <a:endParaRPr lang="en-US" sz="2400"/>
          </a:p>
        </p:txBody>
      </p:sp>
      <p:sp>
        <p:nvSpPr>
          <p:cNvPr id="186859048" name="Shape 2"/>
          <p:cNvSpPr/>
          <p:nvPr/>
        </p:nvSpPr>
        <p:spPr bwMode="auto"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53522263" name="Shape 3"/>
          <p:cNvSpPr/>
          <p:nvPr/>
        </p:nvSpPr>
        <p:spPr bwMode="auto">
          <a:xfrm>
            <a:off x="457200" y="914400"/>
            <a:ext cx="73152" cy="7132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83402316" name="Text 4"/>
          <p:cNvSpPr/>
          <p:nvPr/>
        </p:nvSpPr>
        <p:spPr bwMode="auto">
          <a:xfrm>
            <a:off x="685800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No native surface normal GT for Cityscapes</a:t>
            </a:r>
            <a:endParaRPr lang="en-US" sz="1100"/>
          </a:p>
        </p:txBody>
      </p:sp>
      <p:sp>
        <p:nvSpPr>
          <p:cNvPr id="1030745913" name="Shape 5"/>
          <p:cNvSpPr/>
          <p:nvPr/>
        </p:nvSpPr>
        <p:spPr bwMode="auto">
          <a:xfrm>
            <a:off x="685800" y="1261872"/>
            <a:ext cx="457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7074953" name="Text 6"/>
          <p:cNvSpPr/>
          <p:nvPr/>
        </p:nvSpPr>
        <p:spPr bwMode="auto">
          <a:xfrm>
            <a:off x="868680" y="12344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Geometric pipeline: stereo disparity → depth → cross-product normals via DSINE utility</a:t>
            </a:r>
            <a:endParaRPr lang="en-US" sz="1100"/>
          </a:p>
        </p:txBody>
      </p:sp>
      <p:sp>
        <p:nvSpPr>
          <p:cNvPr id="483517687" name="Shape 7"/>
          <p:cNvSpPr/>
          <p:nvPr/>
        </p:nvSpPr>
        <p:spPr bwMode="auto">
          <a:xfrm>
            <a:off x="457200" y="173736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602669496" name="Shape 8"/>
          <p:cNvSpPr/>
          <p:nvPr/>
        </p:nvSpPr>
        <p:spPr bwMode="auto">
          <a:xfrm>
            <a:off x="457200" y="1737360"/>
            <a:ext cx="73152" cy="7132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3102816" name="Text 9"/>
          <p:cNvSpPr/>
          <p:nvPr/>
        </p:nvSpPr>
        <p:spPr bwMode="auto">
          <a:xfrm>
            <a:off x="685800" y="1755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Noisy pseudo-GT suppressed by uncertainty weighting</a:t>
            </a:r>
            <a:endParaRPr lang="en-US" sz="1100"/>
          </a:p>
        </p:txBody>
      </p:sp>
      <p:sp>
        <p:nvSpPr>
          <p:cNvPr id="1972880347" name="Shape 10"/>
          <p:cNvSpPr/>
          <p:nvPr/>
        </p:nvSpPr>
        <p:spPr bwMode="auto">
          <a:xfrm>
            <a:off x="685800" y="2084832"/>
            <a:ext cx="457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51427941" name="Text 11"/>
          <p:cNvSpPr/>
          <p:nvPr/>
        </p:nvSpPr>
        <p:spPr bwMode="auto">
          <a:xfrm>
            <a:off x="868680" y="20574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Switched to fixed loss weights (λ_d=1.0, λ_s=4.0, λ_n=0.5) via grid search</a:t>
            </a:r>
            <a:endParaRPr lang="en-US" sz="1100"/>
          </a:p>
        </p:txBody>
      </p:sp>
      <p:sp>
        <p:nvSpPr>
          <p:cNvPr id="251286748" name="Shape 12"/>
          <p:cNvSpPr/>
          <p:nvPr/>
        </p:nvSpPr>
        <p:spPr bwMode="auto">
          <a:xfrm>
            <a:off x="457200" y="256032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82515257" name="Shape 13"/>
          <p:cNvSpPr/>
          <p:nvPr/>
        </p:nvSpPr>
        <p:spPr bwMode="auto">
          <a:xfrm>
            <a:off x="457200" y="2560320"/>
            <a:ext cx="73152" cy="7132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03124961" name="Text 14"/>
          <p:cNvSpPr/>
          <p:nvPr/>
        </p:nvSpPr>
        <p:spPr bwMode="auto">
          <a:xfrm>
            <a:off x="685800" y="25786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mIoU metric bug (per-batch averaging deflated scores)</a:t>
            </a:r>
            <a:endParaRPr lang="en-US" sz="1100"/>
          </a:p>
        </p:txBody>
      </p:sp>
      <p:sp>
        <p:nvSpPr>
          <p:cNvPr id="1060336863" name="Shape 15"/>
          <p:cNvSpPr/>
          <p:nvPr/>
        </p:nvSpPr>
        <p:spPr bwMode="auto">
          <a:xfrm>
            <a:off x="685800" y="2907792"/>
            <a:ext cx="457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9766020" name="Text 16"/>
          <p:cNvSpPr/>
          <p:nvPr/>
        </p:nvSpPr>
        <p:spPr bwMode="auto">
          <a:xfrm>
            <a:off x="868680" y="28803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Fixed to global intersection/union accumulation — mIoU jumped from 51% to 70%</a:t>
            </a:r>
            <a:endParaRPr lang="en-US" sz="1100"/>
          </a:p>
        </p:txBody>
      </p:sp>
      <p:sp>
        <p:nvSpPr>
          <p:cNvPr id="1308974185" name="Shape 17"/>
          <p:cNvSpPr/>
          <p:nvPr/>
        </p:nvSpPr>
        <p:spPr bwMode="auto">
          <a:xfrm>
            <a:off x="457200" y="338328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262557849" name="Shape 18"/>
          <p:cNvSpPr/>
          <p:nvPr/>
        </p:nvSpPr>
        <p:spPr bwMode="auto">
          <a:xfrm>
            <a:off x="457200" y="3383280"/>
            <a:ext cx="73152" cy="7132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2004778" name="Text 19"/>
          <p:cNvSpPr/>
          <p:nvPr/>
        </p:nvSpPr>
        <p:spPr bwMode="auto">
          <a:xfrm>
            <a:off x="685800" y="34015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4GB VRAM constraint on GTX 1650</a:t>
            </a:r>
            <a:endParaRPr lang="en-US" sz="1100"/>
          </a:p>
        </p:txBody>
      </p:sp>
      <p:sp>
        <p:nvSpPr>
          <p:cNvPr id="1321157929" name="Shape 20"/>
          <p:cNvSpPr/>
          <p:nvPr/>
        </p:nvSpPr>
        <p:spPr bwMode="auto">
          <a:xfrm>
            <a:off x="685800" y="3730752"/>
            <a:ext cx="457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7579915" name="Text 21"/>
          <p:cNvSpPr/>
          <p:nvPr/>
        </p:nvSpPr>
        <p:spPr bwMode="auto">
          <a:xfrm>
            <a:off x="868680" y="37033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Batch size 2, 512×1024 resolution, MobileNetV3-Large (2.8M vs ResNet-50 25.6M)</a:t>
            </a:r>
            <a:endParaRPr lang="en-US" sz="1100"/>
          </a:p>
        </p:txBody>
      </p:sp>
      <p:sp>
        <p:nvSpPr>
          <p:cNvPr id="259134383" name="Shape 22"/>
          <p:cNvSpPr/>
          <p:nvPr/>
        </p:nvSpPr>
        <p:spPr bwMode="auto">
          <a:xfrm>
            <a:off x="457200" y="420624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776466063" name="Shape 23"/>
          <p:cNvSpPr/>
          <p:nvPr/>
        </p:nvSpPr>
        <p:spPr bwMode="auto">
          <a:xfrm>
            <a:off x="457200" y="4206240"/>
            <a:ext cx="73152" cy="7132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47691282" name="Text 24"/>
          <p:cNvSpPr/>
          <p:nvPr/>
        </p:nvSpPr>
        <p:spPr bwMode="auto">
          <a:xfrm>
            <a:off x="685800" y="42245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Class imbalance (road 35% vs bicycle 0.3%)</a:t>
            </a:r>
            <a:endParaRPr lang="en-US" sz="1100"/>
          </a:p>
        </p:txBody>
      </p:sp>
      <p:sp>
        <p:nvSpPr>
          <p:cNvPr id="1041370223" name="Shape 25"/>
          <p:cNvSpPr/>
          <p:nvPr/>
        </p:nvSpPr>
        <p:spPr bwMode="auto">
          <a:xfrm>
            <a:off x="685800" y="4553712"/>
            <a:ext cx="457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32640871" name="Text 26"/>
          <p:cNvSpPr/>
          <p:nvPr/>
        </p:nvSpPr>
        <p:spPr bwMode="auto">
          <a:xfrm>
            <a:off x="868680" y="45262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DiceFocal loss: Dice for per-class balance + Focal for hard-example mining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7602551" name="Shape 0"/>
          <p:cNvSpPr/>
          <p:nvPr/>
        </p:nvSpPr>
        <p:spPr bwMode="auto"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40865715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221867300" name="Text 1"/>
          <p:cNvSpPr/>
          <p:nvPr/>
        </p:nvSpPr>
        <p:spPr bwMode="auto">
          <a:xfrm>
            <a:off x="100584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Future Work</a:t>
            </a:r>
            <a:endParaRPr lang="en-US" sz="2400"/>
          </a:p>
        </p:txBody>
      </p:sp>
      <p:sp>
        <p:nvSpPr>
          <p:cNvPr id="1754274719" name="Shape 2"/>
          <p:cNvSpPr/>
          <p:nvPr/>
        </p:nvSpPr>
        <p:spPr bwMode="auto">
          <a:xfrm>
            <a:off x="457200" y="10058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526658723" name="Shape 3"/>
          <p:cNvSpPr/>
          <p:nvPr/>
        </p:nvSpPr>
        <p:spPr bwMode="auto">
          <a:xfrm>
            <a:off x="640080" y="11887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70178434" name="Text 4"/>
          <p:cNvSpPr/>
          <p:nvPr/>
        </p:nvSpPr>
        <p:spPr bwMode="auto">
          <a:xfrm>
            <a:off x="64008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</a:t>
            </a:r>
            <a:endParaRPr lang="en-US" sz="1600"/>
          </a:p>
        </p:txBody>
      </p:sp>
      <p:sp>
        <p:nvSpPr>
          <p:cNvPr id="712483135" name="Text 5"/>
          <p:cNvSpPr/>
          <p:nvPr/>
        </p:nvSpPr>
        <p:spPr bwMode="auto">
          <a:xfrm>
            <a:off x="1234440" y="10972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Cross-Dataset Evaluation</a:t>
            </a:r>
            <a:endParaRPr lang="en-US" sz="1400"/>
          </a:p>
        </p:txBody>
      </p:sp>
      <p:sp>
        <p:nvSpPr>
          <p:cNvPr id="1551047436" name="Text 6"/>
          <p:cNvSpPr/>
          <p:nvPr/>
        </p:nvSpPr>
        <p:spPr bwMode="auto">
          <a:xfrm>
            <a:off x="1234440" y="1417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Validate on KITTI benchmark for generalization beyond Cityscapes</a:t>
            </a:r>
            <a:endParaRPr lang="en-US" sz="1200"/>
          </a:p>
        </p:txBody>
      </p:sp>
      <p:sp>
        <p:nvSpPr>
          <p:cNvPr id="1052077616" name="Shape 7"/>
          <p:cNvSpPr/>
          <p:nvPr/>
        </p:nvSpPr>
        <p:spPr bwMode="auto">
          <a:xfrm>
            <a:off x="457200" y="19659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69357090" name="Shape 8"/>
          <p:cNvSpPr/>
          <p:nvPr/>
        </p:nvSpPr>
        <p:spPr bwMode="auto">
          <a:xfrm>
            <a:off x="640080" y="21488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7651586" name="Text 9"/>
          <p:cNvSpPr/>
          <p:nvPr/>
        </p:nvSpPr>
        <p:spPr bwMode="auto">
          <a:xfrm>
            <a:off x="64008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</a:t>
            </a:r>
            <a:endParaRPr lang="en-US" sz="1600"/>
          </a:p>
        </p:txBody>
      </p:sp>
      <p:sp>
        <p:nvSpPr>
          <p:cNvPr id="812965438" name="Text 10"/>
          <p:cNvSpPr/>
          <p:nvPr/>
        </p:nvSpPr>
        <p:spPr bwMode="auto">
          <a:xfrm>
            <a:off x="1234440" y="2057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Neural Normal Refinement</a:t>
            </a:r>
            <a:endParaRPr lang="en-US" sz="1400"/>
          </a:p>
        </p:txBody>
      </p:sp>
      <p:sp>
        <p:nvSpPr>
          <p:cNvPr id="2033397974" name="Text 11"/>
          <p:cNvSpPr/>
          <p:nvPr/>
        </p:nvSpPr>
        <p:spPr bwMode="auto">
          <a:xfrm>
            <a:off x="1234440" y="2377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Multi-view consistency or learned refinement to improve normals on complex surfaces</a:t>
            </a:r>
            <a:endParaRPr lang="en-US" sz="1200"/>
          </a:p>
        </p:txBody>
      </p:sp>
      <p:sp>
        <p:nvSpPr>
          <p:cNvPr id="1727367916" name="Shape 12"/>
          <p:cNvSpPr/>
          <p:nvPr/>
        </p:nvSpPr>
        <p:spPr bwMode="auto"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964952652" name="Shape 13"/>
          <p:cNvSpPr/>
          <p:nvPr/>
        </p:nvSpPr>
        <p:spPr bwMode="auto">
          <a:xfrm>
            <a:off x="640080" y="31089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21530605" name="Text 14"/>
          <p:cNvSpPr/>
          <p:nvPr/>
        </p:nvSpPr>
        <p:spPr bwMode="auto">
          <a:xfrm>
            <a:off x="64008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</a:t>
            </a:r>
            <a:endParaRPr lang="en-US" sz="1600"/>
          </a:p>
        </p:txBody>
      </p:sp>
      <p:sp>
        <p:nvSpPr>
          <p:cNvPr id="476359337" name="Text 15"/>
          <p:cNvSpPr/>
          <p:nvPr/>
        </p:nvSpPr>
        <p:spPr bwMode="auto">
          <a:xfrm>
            <a:off x="1234440" y="3017519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Edge Hardware Deployment</a:t>
            </a:r>
            <a:endParaRPr lang="en-US" sz="1400"/>
          </a:p>
        </p:txBody>
      </p:sp>
      <p:sp>
        <p:nvSpPr>
          <p:cNvPr id="1183634486" name="Text 16"/>
          <p:cNvSpPr/>
          <p:nvPr/>
        </p:nvSpPr>
        <p:spPr bwMode="auto">
          <a:xfrm>
            <a:off x="1234440" y="3337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TensorRT/ONNX optimization on Jetson Nano/Xavier for real latency measurements</a:t>
            </a:r>
            <a:endParaRPr lang="en-US" sz="1200"/>
          </a:p>
        </p:txBody>
      </p:sp>
      <p:sp>
        <p:nvSpPr>
          <p:cNvPr id="577817904" name="Shape 17"/>
          <p:cNvSpPr/>
          <p:nvPr/>
        </p:nvSpPr>
        <p:spPr bwMode="auto">
          <a:xfrm>
            <a:off x="457200" y="38862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05749577" name="Shape 18"/>
          <p:cNvSpPr/>
          <p:nvPr/>
        </p:nvSpPr>
        <p:spPr bwMode="auto">
          <a:xfrm>
            <a:off x="640080" y="40690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38513653" name="Text 19"/>
          <p:cNvSpPr/>
          <p:nvPr/>
        </p:nvSpPr>
        <p:spPr bwMode="auto">
          <a:xfrm>
            <a:off x="640080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</a:t>
            </a:r>
            <a:endParaRPr lang="en-US" sz="1600"/>
          </a:p>
        </p:txBody>
      </p:sp>
      <p:sp>
        <p:nvSpPr>
          <p:cNvPr id="417599065" name="Text 20"/>
          <p:cNvSpPr/>
          <p:nvPr/>
        </p:nvSpPr>
        <p:spPr bwMode="auto">
          <a:xfrm>
            <a:off x="1234440" y="39776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Additional Tasks</a:t>
            </a:r>
            <a:endParaRPr lang="en-US" sz="1400"/>
          </a:p>
        </p:txBody>
      </p:sp>
      <p:sp>
        <p:nvSpPr>
          <p:cNvPr id="1881299429" name="Text 21"/>
          <p:cNvSpPr/>
          <p:nvPr/>
        </p:nvSpPr>
        <p:spPr bwMode="auto">
          <a:xfrm>
            <a:off x="1234440" y="4297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Extend to edge detection or optical flow to leverage shared encoder further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7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350910" name="Shape 0"/>
          <p:cNvSpPr/>
          <p:nvPr/>
        </p:nvSpPr>
        <p:spPr bwMode="auto"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50961638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1391551744" name="Text 1"/>
          <p:cNvSpPr/>
          <p:nvPr/>
        </p:nvSpPr>
        <p:spPr bwMode="auto">
          <a:xfrm>
            <a:off x="100584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References</a:t>
            </a:r>
            <a:endParaRPr lang="en-US" sz="2400"/>
          </a:p>
        </p:txBody>
      </p:sp>
      <p:sp>
        <p:nvSpPr>
          <p:cNvPr id="295214099" name="Text 2"/>
          <p:cNvSpPr/>
          <p:nvPr/>
        </p:nvSpPr>
        <p:spPr bwMode="auto"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sz="10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[1] Liu et al., "End-to-End Multi-Task Learning with Attention," CVPR 2019</a:t>
            </a:r>
            <a:endParaRPr lang="en-US" sz="100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0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[2] Vandenhende et al., "MTI-Net: Multi-Scale Task Interaction Networks," ECCV 2020</a:t>
            </a:r>
            <a:endParaRPr lang="en-US" sz="100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0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[3] Xu et al., "PAD-Net: Multi-Tasks Guided Prediction-and-Distillation," CVPR 2018</a:t>
            </a:r>
            <a:endParaRPr lang="en-US" sz="100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0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[4] Ye &amp; Xu, "Inverted Pyramid Multi-Task Transformer," ECCV 2022</a:t>
            </a:r>
            <a:endParaRPr lang="en-US" sz="100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0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[5] Lin et al., "MTMamba: Mamba-Based Decoders for MTL," ECCV 2024</a:t>
            </a:r>
            <a:endParaRPr lang="en-US" sz="100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0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[6] Lopes et al., "Cross-Task Attention for Dense MTL," WACV 2023</a:t>
            </a:r>
            <a:endParaRPr lang="en-US" sz="100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0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[7] Xie et al., "SegFormer: Semantic Segmentation with Transformers," NeurIPS 2021</a:t>
            </a:r>
            <a:endParaRPr lang="en-US" sz="100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0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[8] Chen et al., "Encoder-Decoder with Atrous Separable Conv," ECCV 2018</a:t>
            </a:r>
            <a:endParaRPr lang="en-US" sz="100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0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[9] Howard et al., "Searching for MobileNetV3," ICCV 2019</a:t>
            </a:r>
            <a:endParaRPr lang="en-US" sz="100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0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[10] Ranftl et al., "Vision Transformers for Dense Prediction," ICCV 2021</a:t>
            </a:r>
            <a:endParaRPr lang="en-US" sz="100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0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[11] Bae &amp; Davison, "Rethinking Inductive Biases for Surface Normal Est.," CVPR 2024</a:t>
            </a:r>
            <a:endParaRPr lang="en-US" sz="100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00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[12] Eigen et al., "Depth Map Prediction from a Single Image," NeurIPS 2014</a:t>
            </a:r>
            <a:endParaRPr lang="en-US" sz="1000"/>
          </a:p>
        </p:txBody>
      </p:sp>
      <p:sp>
        <p:nvSpPr>
          <p:cNvPr id="1161740589" name="Text 3"/>
          <p:cNvSpPr/>
          <p:nvPr/>
        </p:nvSpPr>
        <p:spPr bwMode="auto"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Code: github.com/Sid-5137/edgelite-mtan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19</Slides>
  <Notes>19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EdgeLite-MTAN Review Presentation</dc:title>
  <dc:subject>PptxGenJS Presentation</dc:subject>
  <dc:creator>Siddhartha Mallavolu</dc:creator>
  <cp:lastModifiedBy/>
  <cp:revision>2</cp:revision>
  <dcterms:created xsi:type="dcterms:W3CDTF">2026-03-24T14:11:59Z</dcterms:created>
  <dcterms:modified xsi:type="dcterms:W3CDTF">2026-03-24T14:41:43Z</dcterms:modified>
</cp:coreProperties>
</file>